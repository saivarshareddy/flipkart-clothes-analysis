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8" r:id="rId3"/>
    <p:sldId id="261" r:id="rId4"/>
    <p:sldId id="262" r:id="rId5"/>
    <p:sldId id="263" r:id="rId6"/>
    <p:sldId id="270" r:id="rId7"/>
    <p:sldId id="272" r:id="rId8"/>
    <p:sldId id="273" r:id="rId9"/>
    <p:sldId id="276" r:id="rId10"/>
    <p:sldId id="277" r:id="rId11"/>
    <p:sldId id="279" r:id="rId12"/>
    <p:sldId id="280" r:id="rId13"/>
    <p:sldId id="282" r:id="rId14"/>
    <p:sldId id="281" r:id="rId15"/>
    <p:sldId id="266" r:id="rId16"/>
    <p:sldId id="259" r:id="rId17"/>
  </p:sldIdLst>
  <p:sldSz cx="12192000" cy="6858000"/>
  <p:notesSz cx="6858000" cy="9144000"/>
  <p:embeddedFontLst>
    <p:embeddedFont>
      <p:font typeface="Libre Baskerville" panose="020B0604020202020204" charset="0"/>
      <p:regular r:id="rId19"/>
      <p:bold r:id="rId20"/>
      <p:italic r:id="rId21"/>
    </p:embeddedFont>
    <p:embeddedFont>
      <p:font typeface="Calibri" panose="020F0502020204030204" pitchFamily="34" charset="0"/>
      <p:regular r:id="rId22"/>
      <p:bold r:id="rId23"/>
      <p:italic r:id="rId24"/>
      <p:boldItalic r:id="rId25"/>
    </p:embeddedFont>
    <p:embeddedFont>
      <p:font typeface="Lato Black" panose="020B0604020202020204" charset="0"/>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62" autoAdjust="0"/>
    <p:restoredTop sz="94660"/>
  </p:normalViewPr>
  <p:slideViewPr>
    <p:cSldViewPr snapToGrid="0">
      <p:cViewPr varScale="1">
        <p:scale>
          <a:sx n="72" d="100"/>
          <a:sy n="72"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7983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7610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5501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60280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4378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4339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6734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084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308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1809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9842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1903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304C63F-824A-9F4B-0F28-53D86F50B71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290AB1B-C2A6-7FE6-4A7A-4E31219774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5BCCADD-6FFF-CEA2-8031-721364B477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8012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4702980" y="-647113"/>
            <a:ext cx="21596774" cy="6694098"/>
          </a:xfrm>
          <a:prstGeom prst="rect">
            <a:avLst/>
          </a:prstGeom>
          <a:noFill/>
          <a:ln>
            <a:noFill/>
          </a:ln>
        </p:spPr>
      </p:pic>
      <p:sp>
        <p:nvSpPr>
          <p:cNvPr id="99" name="Google Shape;99;p1"/>
          <p:cNvSpPr txBox="1"/>
          <p:nvPr/>
        </p:nvSpPr>
        <p:spPr>
          <a:xfrm>
            <a:off x="2724695" y="2958534"/>
            <a:ext cx="7246189"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chemeClr val="dk1"/>
                </a:solidFill>
                <a:latin typeface="Calibri"/>
                <a:ea typeface="Calibri"/>
                <a:cs typeface="Calibri"/>
                <a:sym typeface="Calibri"/>
              </a:rPr>
              <a:t/>
            </a:r>
            <a:br>
              <a:rPr lang="en-IN" sz="1800" b="0" i="0" u="none" strike="noStrike" cap="none" dirty="0">
                <a:solidFill>
                  <a:schemeClr val="dk1"/>
                </a:solidFill>
                <a:latin typeface="Calibri"/>
                <a:ea typeface="Calibri"/>
                <a:cs typeface="Calibri"/>
                <a:sym typeface="Calibri"/>
              </a:rPr>
            </a:br>
            <a:r>
              <a:rPr lang="en-IN" sz="3200" b="1" i="0" u="none" strike="noStrike" cap="none" dirty="0" smtClean="0">
                <a:solidFill>
                  <a:srgbClr val="FF0000"/>
                </a:solidFill>
                <a:latin typeface="Times New Roman" panose="02020603050405020304" pitchFamily="18" charset="0"/>
                <a:ea typeface="Calibri"/>
                <a:cs typeface="Times New Roman" panose="02020603050405020304" pitchFamily="18" charset="0"/>
                <a:sym typeface="Calibri"/>
              </a:rPr>
              <a:t>FLIPKART CLOTHES ANALYSIS</a:t>
            </a:r>
            <a:endParaRPr sz="32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2" name="TextBox 1"/>
          <p:cNvSpPr txBox="1"/>
          <p:nvPr/>
        </p:nvSpPr>
        <p:spPr>
          <a:xfrm>
            <a:off x="7104184" y="4980473"/>
            <a:ext cx="4740813" cy="707886"/>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KANDHATI SAIVARSHA REDDY</a:t>
            </a:r>
          </a:p>
          <a:p>
            <a:r>
              <a:rPr lang="en-US" sz="2000" b="1" dirty="0" smtClean="0">
                <a:latin typeface="Times New Roman" panose="02020603050405020304" pitchFamily="18" charset="0"/>
                <a:cs typeface="Times New Roman" panose="02020603050405020304" pitchFamily="18" charset="0"/>
              </a:rPr>
              <a:t>Batch-442</a:t>
            </a:r>
            <a:endParaRPr lang="en-IN" sz="20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smtClean="0">
                <a:solidFill>
                  <a:srgbClr val="FF0000"/>
                </a:solidFill>
                <a:latin typeface="Times New Roman" panose="02020603050405020304" pitchFamily="18" charset="0"/>
                <a:cs typeface="Times New Roman" panose="02020603050405020304" pitchFamily="18" charset="0"/>
              </a:rPr>
              <a:t>Agenda</a:t>
            </a:r>
            <a:endParaRPr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82600" indent="-457200">
              <a:buSzPts val="2400"/>
            </a:pPr>
            <a:r>
              <a:rPr lang="en-US" dirty="0" smtClean="0">
                <a:latin typeface="Times New Roman" panose="02020603050405020304" pitchFamily="18" charset="0"/>
                <a:cs typeface="Times New Roman" panose="02020603050405020304" pitchFamily="18" charset="0"/>
              </a:rPr>
              <a:t>Business Problem</a:t>
            </a:r>
          </a:p>
          <a:p>
            <a:pPr marL="482600" indent="-457200">
              <a:buSzPts val="2400"/>
            </a:pPr>
            <a:r>
              <a:rPr lang="en-US" dirty="0" smtClean="0">
                <a:latin typeface="Times New Roman" panose="02020603050405020304" pitchFamily="18" charset="0"/>
                <a:cs typeface="Times New Roman" panose="02020603050405020304" pitchFamily="18" charset="0"/>
              </a:rPr>
              <a:t>Business Objective</a:t>
            </a:r>
          </a:p>
          <a:p>
            <a:pPr marL="482600" indent="-457200">
              <a:buSzPts val="2400"/>
            </a:pPr>
            <a:r>
              <a:rPr lang="en-US" dirty="0" smtClean="0">
                <a:latin typeface="Times New Roman" panose="02020603050405020304" pitchFamily="18" charset="0"/>
                <a:cs typeface="Times New Roman" panose="02020603050405020304" pitchFamily="18" charset="0"/>
              </a:rPr>
              <a:t>Problem Statement</a:t>
            </a:r>
          </a:p>
          <a:p>
            <a:pPr marL="482600" indent="-457200">
              <a:buSzPts val="2400"/>
            </a:pPr>
            <a:r>
              <a:rPr lang="en-US" dirty="0" smtClean="0">
                <a:latin typeface="Times New Roman" panose="02020603050405020304" pitchFamily="18" charset="0"/>
                <a:cs typeface="Times New Roman" panose="02020603050405020304" pitchFamily="18" charset="0"/>
              </a:rPr>
              <a:t>Data Preprocessing</a:t>
            </a:r>
          </a:p>
          <a:p>
            <a:pPr marL="482600" indent="-457200">
              <a:buSzPts val="2400"/>
            </a:pPr>
            <a:r>
              <a:rPr lang="en-US" dirty="0" smtClean="0">
                <a:latin typeface="Times New Roman" panose="02020603050405020304" pitchFamily="18" charset="0"/>
                <a:cs typeface="Times New Roman" panose="02020603050405020304" pitchFamily="18" charset="0"/>
              </a:rPr>
              <a:t>Analysis and Interpretation</a:t>
            </a:r>
          </a:p>
          <a:p>
            <a:pPr marL="482600" indent="-457200">
              <a:buSzPts val="2400"/>
            </a:pPr>
            <a:r>
              <a:rPr lang="en-US" dirty="0" smtClean="0">
                <a:latin typeface="Times New Roman" panose="02020603050405020304" pitchFamily="18" charset="0"/>
                <a:cs typeface="Times New Roman" panose="02020603050405020304" pitchFamily="18" charset="0"/>
              </a:rPr>
              <a:t>Hypothesis Testing</a:t>
            </a:r>
          </a:p>
          <a:p>
            <a:pPr marL="482600" indent="-457200">
              <a:buSzPts val="2400"/>
            </a:pPr>
            <a:r>
              <a:rPr lang="en-US" dirty="0" smtClean="0">
                <a:latin typeface="Times New Roman" panose="02020603050405020304" pitchFamily="18" charset="0"/>
                <a:cs typeface="Times New Roman" panose="02020603050405020304" pitchFamily="18" charset="0"/>
              </a:rPr>
              <a:t>Recommendations</a:t>
            </a:r>
          </a:p>
          <a:p>
            <a:pPr marL="482600" indent="-457200">
              <a:buSzPts val="2400"/>
            </a:pPr>
            <a:r>
              <a:rPr lang="en-US" dirty="0" smtClean="0">
                <a:latin typeface="Times New Roman" panose="02020603050405020304" pitchFamily="18" charset="0"/>
                <a:cs typeface="Times New Roman" panose="02020603050405020304" pitchFamily="18" charset="0"/>
              </a:rPr>
              <a:t>Challenges</a:t>
            </a:r>
          </a:p>
          <a:p>
            <a:pPr marL="482600" indent="-457200">
              <a:buSzPts val="2400"/>
            </a:pPr>
            <a:r>
              <a:rPr lang="en-US" dirty="0" smtClean="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634593" y="951739"/>
            <a:ext cx="11220393" cy="3699434"/>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000" b="1" i="0" u="none" strike="noStrike" cap="none" dirty="0" smtClean="0">
                <a:solidFill>
                  <a:srgbClr val="FF0000"/>
                </a:solidFill>
                <a:latin typeface="Times New Roman" panose="02020603050405020304" pitchFamily="18" charset="0"/>
                <a:ea typeface="Lato Black"/>
                <a:cs typeface="Times New Roman" panose="02020603050405020304" pitchFamily="18" charset="0"/>
                <a:sym typeface="Lato Black"/>
              </a:rPr>
              <a:t>Business Problem</a:t>
            </a:r>
          </a:p>
          <a:p>
            <a:pPr marL="0" marR="0" lvl="0" indent="0" algn="l" rtl="0">
              <a:lnSpc>
                <a:spcPct val="80000"/>
              </a:lnSpc>
              <a:spcBef>
                <a:spcPts val="0"/>
              </a:spcBef>
              <a:spcAft>
                <a:spcPts val="0"/>
              </a:spcAft>
              <a:buClr>
                <a:srgbClr val="FF0000"/>
              </a:buClr>
              <a:buSzPts val="3200"/>
              <a:buFont typeface="Lato Black"/>
              <a:buNone/>
            </a:pPr>
            <a:endParaRPr lang="en-US" sz="2800" b="1" dirty="0">
              <a:solidFill>
                <a:srgbClr val="FF0000"/>
              </a:solidFill>
              <a:latin typeface="Times New Roman" panose="02020603050405020304" pitchFamily="18" charset="0"/>
              <a:ea typeface="Calibri"/>
              <a:cs typeface="Times New Roman" panose="02020603050405020304" pitchFamily="18" charset="0"/>
              <a:sym typeface="Lato Black"/>
            </a:endParaRPr>
          </a:p>
          <a:p>
            <a:pPr lvl="0" algn="just">
              <a:lnSpc>
                <a:spcPct val="150000"/>
              </a:lnSpc>
              <a:buClr>
                <a:srgbClr val="FF0000"/>
              </a:buClr>
              <a:buSzPts val="3200"/>
            </a:pPr>
            <a:r>
              <a:rPr lang="en-US" sz="2400" dirty="0">
                <a:latin typeface="Times New Roman" panose="02020603050405020304" pitchFamily="18" charset="0"/>
                <a:cs typeface="Times New Roman" panose="02020603050405020304" pitchFamily="18" charset="0"/>
              </a:rPr>
              <a:t>The Flipkart clothing dataset contains unstructured product information scraped from multiple web pages. The challenge is to transform this raw data into meaningful insights by analyzing pricing patterns, discount behavior, brand influence, and customer ratings. The goal is to provide actionable insights that help Flipkart improve its pricing strategy and customer experience</a:t>
            </a:r>
            <a:r>
              <a:rPr lang="en-US" sz="2400" dirty="0"/>
              <a:t>.</a:t>
            </a:r>
            <a:endParaRPr sz="24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993424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357318" y="402486"/>
            <a:ext cx="11656491" cy="5244472"/>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4000" b="1" dirty="0" smtClean="0">
                <a:solidFill>
                  <a:srgbClr val="FF0000"/>
                </a:solidFill>
                <a:latin typeface="Times New Roman" panose="02020603050405020304" pitchFamily="18" charset="0"/>
                <a:ea typeface="Calibri"/>
                <a:cs typeface="Times New Roman" panose="02020603050405020304" pitchFamily="18" charset="0"/>
                <a:sym typeface="Lato Black"/>
              </a:rPr>
              <a:t>Business Objective</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main objective of this project is to perform </a:t>
            </a:r>
            <a:r>
              <a:rPr lang="en-US" sz="2400" b="1" dirty="0">
                <a:latin typeface="Times New Roman" panose="02020603050405020304" pitchFamily="18" charset="0"/>
                <a:cs typeface="Times New Roman" panose="02020603050405020304" pitchFamily="18" charset="0"/>
              </a:rPr>
              <a:t>Exploratory Data Analysis (EDA)</a:t>
            </a:r>
            <a:r>
              <a:rPr lang="en-US" sz="2400" dirty="0">
                <a:latin typeface="Times New Roman" panose="02020603050405020304" pitchFamily="18" charset="0"/>
                <a:cs typeface="Times New Roman" panose="02020603050405020304" pitchFamily="18" charset="0"/>
              </a:rPr>
              <a:t> on Flipkart clothes data in order to:</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price distribution across different clothing products</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Study discount patterns offered by different brands</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 popular brands and product categories</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Compare original price vs selling price</a:t>
            </a:r>
          </a:p>
          <a:p>
            <a:pPr marL="457200" indent="-4572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Generate actionable insights to support </a:t>
            </a:r>
            <a:r>
              <a:rPr lang="en-US" sz="2400" b="1" dirty="0">
                <a:latin typeface="Times New Roman" panose="02020603050405020304" pitchFamily="18" charset="0"/>
                <a:cs typeface="Times New Roman" panose="02020603050405020304" pitchFamily="18" charset="0"/>
              </a:rPr>
              <a:t>business decision-makin</a:t>
            </a:r>
            <a:r>
              <a:rPr lang="en-US" sz="2800" b="1" dirty="0">
                <a:latin typeface="Times New Roman" panose="02020603050405020304" pitchFamily="18" charset="0"/>
                <a:cs typeface="Times New Roman" panose="02020603050405020304" pitchFamily="18" charset="0"/>
              </a:rPr>
              <a:t>g</a:t>
            </a:r>
            <a:endParaRPr lang="en-US" sz="2800" dirty="0">
              <a:latin typeface="Times New Roman" panose="02020603050405020304" pitchFamily="18" charset="0"/>
              <a:cs typeface="Times New Roman" panose="02020603050405020304" pitchFamily="18" charset="0"/>
            </a:endParaRPr>
          </a:p>
          <a:p>
            <a:pPr marL="0" marR="0" lvl="0" indent="0" algn="l" rtl="0">
              <a:lnSpc>
                <a:spcPct val="80000"/>
              </a:lnSpc>
              <a:spcBef>
                <a:spcPts val="0"/>
              </a:spcBef>
              <a:spcAft>
                <a:spcPts val="0"/>
              </a:spcAft>
              <a:buClr>
                <a:srgbClr val="FF0000"/>
              </a:buClr>
              <a:buSzPts val="3200"/>
              <a:buFont typeface="Lato Black"/>
              <a:buNone/>
            </a:pPr>
            <a:endParaRPr lang="en-US" sz="2800" b="1" dirty="0" smtClean="0">
              <a:solidFill>
                <a:srgbClr val="FF0000"/>
              </a:solidFill>
              <a:latin typeface="Times New Roman" panose="02020603050405020304" pitchFamily="18" charset="0"/>
              <a:ea typeface="Calibri"/>
              <a:cs typeface="Times New Roman" panose="02020603050405020304" pitchFamily="18" charset="0"/>
              <a:sym typeface="Lato Black"/>
            </a:endParaRPr>
          </a:p>
          <a:p>
            <a:pPr marL="0" marR="0" lvl="0" indent="0" algn="l" rtl="0">
              <a:lnSpc>
                <a:spcPct val="80000"/>
              </a:lnSpc>
              <a:spcBef>
                <a:spcPts val="0"/>
              </a:spcBef>
              <a:spcAft>
                <a:spcPts val="0"/>
              </a:spcAft>
              <a:buClr>
                <a:srgbClr val="FF0000"/>
              </a:buClr>
              <a:buSzPts val="3200"/>
              <a:buFont typeface="Lato Black"/>
              <a:buNone/>
            </a:pPr>
            <a:endParaRPr sz="2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353890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624604" y="486892"/>
            <a:ext cx="11093784" cy="6420179"/>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4000" b="1" i="0" u="none" strike="noStrike" cap="none" dirty="0" smtClean="0">
                <a:solidFill>
                  <a:srgbClr val="FF0000"/>
                </a:solidFill>
                <a:latin typeface="Times New Roman" panose="02020603050405020304" pitchFamily="18" charset="0"/>
                <a:ea typeface="Lato Black"/>
                <a:cs typeface="Times New Roman" panose="02020603050405020304" pitchFamily="18" charset="0"/>
                <a:sym typeface="Lato Black"/>
              </a:rPr>
              <a:t>Problem Statement</a:t>
            </a:r>
            <a:endParaRPr lang="en-IN" sz="2400" b="1" i="0" u="none" strike="noStrike" cap="none" dirty="0" smtClean="0">
              <a:solidFill>
                <a:srgbClr val="FF0000"/>
              </a:solidFill>
              <a:latin typeface="Times New Roman" panose="02020603050405020304" pitchFamily="18" charset="0"/>
              <a:ea typeface="Lato Black"/>
              <a:cs typeface="Times New Roman" panose="02020603050405020304" pitchFamily="18" charset="0"/>
              <a:sym typeface="Lato Black"/>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Flipkart clothes data is </a:t>
            </a:r>
            <a:r>
              <a:rPr lang="en-US" sz="2400" b="1" dirty="0">
                <a:latin typeface="Times New Roman" panose="02020603050405020304" pitchFamily="18" charset="0"/>
                <a:cs typeface="Times New Roman" panose="02020603050405020304" pitchFamily="18" charset="0"/>
              </a:rPr>
              <a:t>large, unstructured, and spread across multiple web pages</a:t>
            </a:r>
            <a:r>
              <a:rPr lang="en-US" sz="2400" dirty="0">
                <a:latin typeface="Times New Roman" panose="02020603050405020304" pitchFamily="18" charset="0"/>
                <a:cs typeface="Times New Roman" panose="02020603050405020304" pitchFamily="18" charset="0"/>
              </a:rPr>
              <a:t>, making it difficult to directly use for analysis.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Therefore, it is necessary to:</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Extract important product details such as </a:t>
            </a:r>
            <a:r>
              <a:rPr lang="en-US" sz="2400" b="1" dirty="0">
                <a:latin typeface="Times New Roman" panose="02020603050405020304" pitchFamily="18" charset="0"/>
                <a:cs typeface="Times New Roman" panose="02020603050405020304" pitchFamily="18" charset="0"/>
              </a:rPr>
              <a:t>product name, brand, product type, price, original price, and discount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Clean and preprocess the data for analysis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the data to identify </a:t>
            </a:r>
            <a:r>
              <a:rPr lang="en-US" sz="2400" b="1" dirty="0">
                <a:latin typeface="Times New Roman" panose="02020603050405020304" pitchFamily="18" charset="0"/>
                <a:cs typeface="Times New Roman" panose="02020603050405020304" pitchFamily="18" charset="0"/>
              </a:rPr>
              <a:t>patterns, trends, and relationships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Without performing </a:t>
            </a:r>
            <a:r>
              <a:rPr lang="en-US" sz="2400" b="1" dirty="0">
                <a:latin typeface="Times New Roman" panose="02020603050405020304" pitchFamily="18" charset="0"/>
                <a:cs typeface="Times New Roman" panose="02020603050405020304" pitchFamily="18" charset="0"/>
              </a:rPr>
              <a:t>Exploratory Data Analysis (EDA)</a:t>
            </a:r>
            <a:r>
              <a:rPr lang="en-US" sz="2400" dirty="0">
                <a:latin typeface="Times New Roman" panose="02020603050405020304" pitchFamily="18" charset="0"/>
                <a:cs typeface="Times New Roman" panose="02020603050405020304" pitchFamily="18" charset="0"/>
              </a:rPr>
              <a:t>, Flipkart cannot make </a:t>
            </a:r>
            <a:r>
              <a:rPr lang="en-US" sz="2400" b="1" dirty="0">
                <a:latin typeface="Times New Roman" panose="02020603050405020304" pitchFamily="18" charset="0"/>
                <a:cs typeface="Times New Roman" panose="02020603050405020304" pitchFamily="18" charset="0"/>
              </a:rPr>
              <a:t>data-driven decisions</a:t>
            </a:r>
            <a:r>
              <a:rPr lang="en-US" sz="2400" dirty="0">
                <a:latin typeface="Times New Roman" panose="02020603050405020304" pitchFamily="18" charset="0"/>
                <a:cs typeface="Times New Roman" panose="02020603050405020304" pitchFamily="18" charset="0"/>
              </a:rPr>
              <a:t> regarding </a:t>
            </a:r>
            <a:r>
              <a:rPr lang="en-US" sz="2400" b="1" dirty="0">
                <a:latin typeface="Times New Roman" panose="02020603050405020304" pitchFamily="18" charset="0"/>
                <a:cs typeface="Times New Roman" panose="02020603050405020304" pitchFamily="18" charset="0"/>
              </a:rPr>
              <a:t>pricing strategies, discount offers, and product positioning</a:t>
            </a:r>
            <a:r>
              <a:rPr lang="en-US" sz="2400" dirty="0">
                <a:latin typeface="Times New Roman" panose="02020603050405020304" pitchFamily="18" charset="0"/>
                <a:cs typeface="Times New Roman" panose="02020603050405020304" pitchFamily="18" charset="0"/>
              </a:rPr>
              <a:t>.</a:t>
            </a:r>
          </a:p>
          <a:p>
            <a:pPr marL="0" marR="0" lvl="0" indent="0" algn="l" rtl="0">
              <a:lnSpc>
                <a:spcPct val="80000"/>
              </a:lnSpc>
              <a:spcBef>
                <a:spcPts val="0"/>
              </a:spcBef>
              <a:spcAft>
                <a:spcPts val="0"/>
              </a:spcAft>
              <a:buClr>
                <a:srgbClr val="FF0000"/>
              </a:buClr>
              <a:buSzPts val="3200"/>
              <a:buFont typeface="Lato Black"/>
              <a:buNone/>
            </a:pPr>
            <a:endParaRPr sz="2400" b="0"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58385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413586" y="472825"/>
            <a:ext cx="11778413" cy="10852161"/>
          </a:xfrm>
          <a:prstGeom prst="rect">
            <a:avLst/>
          </a:prstGeom>
          <a:noFill/>
          <a:ln>
            <a:noFill/>
          </a:ln>
        </p:spPr>
        <p:txBody>
          <a:bodyPr spcFirstLastPara="1" wrap="square" lIns="91425" tIns="45700" rIns="91425" bIns="45700" anchor="t" anchorCtr="0">
            <a:spAutoFit/>
          </a:bodyPr>
          <a:lstStyle/>
          <a:p>
            <a:pPr marR="0" lvl="0" algn="l" rtl="0">
              <a:lnSpc>
                <a:spcPct val="80000"/>
              </a:lnSpc>
              <a:spcBef>
                <a:spcPts val="0"/>
              </a:spcBef>
              <a:spcAft>
                <a:spcPts val="0"/>
              </a:spcAft>
              <a:buClr>
                <a:srgbClr val="FF0000"/>
              </a:buClr>
              <a:buSzPts val="3200"/>
            </a:pPr>
            <a:r>
              <a:rPr lang="en-US" sz="4000" b="1" dirty="0" smtClean="0">
                <a:solidFill>
                  <a:srgbClr val="FF0000"/>
                </a:solidFill>
                <a:latin typeface="Times New Roman" panose="02020603050405020304" pitchFamily="18" charset="0"/>
                <a:ea typeface="Calibri"/>
                <a:cs typeface="Times New Roman" panose="02020603050405020304" pitchFamily="18" charset="0"/>
                <a:sym typeface="Lato Black"/>
              </a:rPr>
              <a:t>Data Preprocessing</a:t>
            </a:r>
          </a:p>
          <a:p>
            <a:pPr marL="457200" marR="0" lvl="0" indent="-457200" algn="l" rtl="0">
              <a:lnSpc>
                <a:spcPct val="80000"/>
              </a:lnSpc>
              <a:spcBef>
                <a:spcPts val="0"/>
              </a:spcBef>
              <a:spcAft>
                <a:spcPts val="0"/>
              </a:spcAft>
              <a:buClr>
                <a:srgbClr val="FF0000"/>
              </a:buClr>
              <a:buSzPts val="3200"/>
              <a:buFont typeface="Arial" panose="020B0604020202020204" pitchFamily="34" charset="0"/>
              <a:buChar char="•"/>
            </a:pPr>
            <a:endParaRPr lang="en-US" sz="3200" dirty="0">
              <a:solidFill>
                <a:srgbClr val="FF0000"/>
              </a:solidFill>
              <a:latin typeface="Lato Black"/>
              <a:ea typeface="Calibri"/>
              <a:cs typeface="Calibri"/>
              <a:sym typeface="Lato Black"/>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Raw Flipkart clothes data collected through web scraping</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contained missing values, duplicates, and inconsistent formats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preprocessing was performed to make the dataset suitable for </a:t>
            </a:r>
            <a:r>
              <a:rPr lang="en-US" sz="2400" dirty="0" smtClean="0">
                <a:latin typeface="Times New Roman" panose="02020603050405020304" pitchFamily="18" charset="0"/>
                <a:cs typeface="Times New Roman" panose="02020603050405020304" pitchFamily="18" charset="0"/>
              </a:rPr>
              <a:t>analysis</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lvl="0">
              <a:lnSpc>
                <a:spcPct val="80000"/>
              </a:lnSpc>
              <a:buClr>
                <a:srgbClr val="FF0000"/>
              </a:buClr>
              <a:buSzPts val="3200"/>
            </a:pPr>
            <a:r>
              <a:rPr lang="en-IN" sz="2800" b="1" dirty="0" smtClean="0">
                <a:latin typeface="Times New Roman" panose="02020603050405020304" pitchFamily="18" charset="0"/>
                <a:cs typeface="Times New Roman" panose="02020603050405020304" pitchFamily="18" charset="0"/>
              </a:rPr>
              <a:t>Data </a:t>
            </a:r>
            <a:r>
              <a:rPr lang="en-IN" sz="2800" b="1" dirty="0">
                <a:latin typeface="Times New Roman" panose="02020603050405020304" pitchFamily="18" charset="0"/>
                <a:cs typeface="Times New Roman" panose="02020603050405020304" pitchFamily="18" charset="0"/>
              </a:rPr>
              <a:t>Loading &amp; </a:t>
            </a:r>
            <a:r>
              <a:rPr lang="en-IN" sz="2800" b="1" dirty="0" smtClean="0">
                <a:latin typeface="Times New Roman" panose="02020603050405020304" pitchFamily="18" charset="0"/>
                <a:cs typeface="Times New Roman" panose="02020603050405020304" pitchFamily="18" charset="0"/>
              </a:rPr>
              <a:t>Understanding</a:t>
            </a:r>
          </a:p>
          <a:p>
            <a:pPr marL="342900" lvl="0" indent="-342900">
              <a:lnSpc>
                <a:spcPct val="80000"/>
              </a:lnSpc>
              <a:buClr>
                <a:schemeClr val="tx1"/>
              </a:buClr>
              <a:buSzPts val="3200"/>
              <a:buFont typeface="Wingdings" panose="05000000000000000000" pitchFamily="2" charset="2"/>
              <a:buChar char="ü"/>
            </a:pPr>
            <a:endParaRPr lang="en-US" altLang="en-US" sz="2400" dirty="0" smtClean="0">
              <a:solidFill>
                <a:schemeClr val="tx1"/>
              </a:solidFill>
              <a:latin typeface="Times New Roman" panose="02020603050405020304" pitchFamily="18" charset="0"/>
              <a:cs typeface="Times New Roman" panose="02020603050405020304" pitchFamily="18" charset="0"/>
            </a:endParaRPr>
          </a:p>
          <a:p>
            <a:pPr marL="342900" lvl="0" indent="-342900">
              <a:lnSpc>
                <a:spcPct val="150000"/>
              </a:lnSpc>
              <a:buClr>
                <a:schemeClr val="tx1"/>
              </a:buClr>
              <a:buSzPts val="3200"/>
              <a:buFont typeface="Wingdings" panose="05000000000000000000" pitchFamily="2" charset="2"/>
              <a:buChar char="ü"/>
            </a:pPr>
            <a:r>
              <a:rPr lang="en-US" altLang="en-US" sz="2400" dirty="0" smtClean="0">
                <a:solidFill>
                  <a:schemeClr val="tx1"/>
                </a:solidFill>
                <a:latin typeface="Times New Roman" panose="02020603050405020304" pitchFamily="18" charset="0"/>
                <a:cs typeface="Times New Roman" panose="02020603050405020304" pitchFamily="18" charset="0"/>
              </a:rPr>
              <a:t>Imported </a:t>
            </a:r>
            <a:r>
              <a:rPr lang="en-US" altLang="en-US" sz="2400" dirty="0">
                <a:solidFill>
                  <a:schemeClr val="tx1"/>
                </a:solidFill>
                <a:latin typeface="Times New Roman" panose="02020603050405020304" pitchFamily="18" charset="0"/>
                <a:cs typeface="Times New Roman" panose="02020603050405020304" pitchFamily="18" charset="0"/>
              </a:rPr>
              <a:t>required libraries </a:t>
            </a:r>
            <a:r>
              <a:rPr lang="en-US" altLang="en-US" sz="2400" dirty="0" smtClean="0">
                <a:solidFill>
                  <a:schemeClr val="tx1"/>
                </a:solidFill>
                <a:latin typeface="Times New Roman" panose="02020603050405020304" pitchFamily="18" charset="0"/>
                <a:cs typeface="Times New Roman" panose="02020603050405020304" pitchFamily="18" charset="0"/>
              </a:rPr>
              <a:t>Pandas</a:t>
            </a:r>
            <a:r>
              <a:rPr lang="en-US" altLang="en-US" sz="2400" dirty="0">
                <a:solidFill>
                  <a:schemeClr val="tx1"/>
                </a:solidFill>
                <a:latin typeface="Times New Roman" panose="02020603050405020304" pitchFamily="18" charset="0"/>
                <a:cs typeface="Times New Roman" panose="02020603050405020304" pitchFamily="18" charset="0"/>
              </a:rPr>
              <a:t>, </a:t>
            </a:r>
            <a:r>
              <a:rPr lang="en-US" altLang="en-US" sz="2400" dirty="0" err="1" smtClean="0">
                <a:solidFill>
                  <a:schemeClr val="tx1"/>
                </a:solidFill>
                <a:latin typeface="Times New Roman" panose="02020603050405020304" pitchFamily="18" charset="0"/>
                <a:cs typeface="Times New Roman" panose="02020603050405020304" pitchFamily="18" charset="0"/>
              </a:rPr>
              <a:t>Num</a:t>
            </a:r>
            <a:r>
              <a:rPr lang="en-US" altLang="en-US" sz="2400" dirty="0" err="1">
                <a:solidFill>
                  <a:schemeClr val="tx1"/>
                </a:solidFill>
                <a:latin typeface="Times New Roman" panose="02020603050405020304" pitchFamily="18" charset="0"/>
                <a:cs typeface="Times New Roman" panose="02020603050405020304" pitchFamily="18" charset="0"/>
              </a:rPr>
              <a:t>p</a:t>
            </a:r>
            <a:r>
              <a:rPr lang="en-US" altLang="en-US" sz="2400" dirty="0" err="1" smtClean="0">
                <a:solidFill>
                  <a:schemeClr val="tx1"/>
                </a:solidFill>
                <a:latin typeface="Times New Roman" panose="02020603050405020304" pitchFamily="18" charset="0"/>
                <a:cs typeface="Times New Roman" panose="02020603050405020304" pitchFamily="18" charset="0"/>
              </a:rPr>
              <a:t>y</a:t>
            </a:r>
            <a:endParaRPr lang="en-US" altLang="en-US" sz="2400" dirty="0" smtClean="0">
              <a:solidFill>
                <a:schemeClr val="tx1"/>
              </a:solidFill>
              <a:latin typeface="Times New Roman" panose="02020603050405020304" pitchFamily="18" charset="0"/>
              <a:cs typeface="Times New Roman" panose="02020603050405020304" pitchFamily="18" charset="0"/>
            </a:endParaRPr>
          </a:p>
          <a:p>
            <a:pPr marL="342900" lvl="0" indent="-342900">
              <a:lnSpc>
                <a:spcPct val="150000"/>
              </a:lnSpc>
              <a:buClr>
                <a:schemeClr val="tx1"/>
              </a:buClr>
              <a:buSzPts val="32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Created </a:t>
            </a:r>
            <a:r>
              <a:rPr lang="en-US" sz="2400" dirty="0" smtClean="0">
                <a:latin typeface="Times New Roman" panose="02020603050405020304" pitchFamily="18" charset="0"/>
                <a:cs typeface="Times New Roman" panose="02020603050405020304" pitchFamily="18" charset="0"/>
              </a:rPr>
              <a:t>Data Frame </a:t>
            </a:r>
            <a:r>
              <a:rPr lang="en-US" sz="2400" dirty="0">
                <a:latin typeface="Times New Roman" panose="02020603050405020304" pitchFamily="18" charset="0"/>
                <a:cs typeface="Times New Roman" panose="02020603050405020304" pitchFamily="18" charset="0"/>
              </a:rPr>
              <a:t>from scraped data</a:t>
            </a:r>
            <a:endParaRPr lang="en-IN" sz="2400" b="1" dirty="0" smtClean="0">
              <a:latin typeface="Times New Roman" panose="02020603050405020304" pitchFamily="18" charset="0"/>
              <a:cs typeface="Times New Roman" panose="02020603050405020304" pitchFamily="18" charset="0"/>
            </a:endParaRPr>
          </a:p>
          <a:p>
            <a:pPr marL="342900" indent="-342900">
              <a:lnSpc>
                <a:spcPct val="150000"/>
              </a:lnSpc>
              <a:buClrTx/>
              <a:buSzPts val="3200"/>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Checked dataset structure using</a:t>
            </a:r>
            <a:r>
              <a:rPr lang="en-IN" sz="2400" dirty="0" smtClean="0">
                <a:latin typeface="Times New Roman" panose="02020603050405020304" pitchFamily="18" charset="0"/>
                <a:cs typeface="Times New Roman" panose="02020603050405020304" pitchFamily="18" charset="0"/>
              </a:rPr>
              <a:t>:</a:t>
            </a:r>
          </a:p>
          <a:p>
            <a:pPr marL="342900" indent="-342900">
              <a:lnSpc>
                <a:spcPct val="150000"/>
              </a:lnSpc>
              <a:buClrTx/>
              <a:buSzPts val="32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h</a:t>
            </a:r>
            <a:r>
              <a:rPr lang="en-US" sz="2400" dirty="0" smtClean="0">
                <a:latin typeface="Times New Roman" panose="02020603050405020304" pitchFamily="18" charset="0"/>
                <a:cs typeface="Times New Roman" panose="02020603050405020304" pitchFamily="18" charset="0"/>
              </a:rPr>
              <a:t>ead() describe() info()</a:t>
            </a:r>
          </a:p>
          <a:p>
            <a:pPr marL="342900" indent="-342900">
              <a:lnSpc>
                <a:spcPct val="150000"/>
              </a:lnSpc>
              <a:buClrTx/>
              <a:buSzPts val="32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Identified data types and missing values</a:t>
            </a:r>
          </a:p>
          <a:p>
            <a:pPr>
              <a:lnSpc>
                <a:spcPct val="150000"/>
              </a:lnSpc>
              <a:buClrTx/>
              <a:buSzPts val="3200"/>
            </a:pPr>
            <a:endParaRPr lang="en-IN" sz="2400" dirty="0">
              <a:latin typeface="Times New Roman" panose="02020603050405020304" pitchFamily="18" charset="0"/>
              <a:cs typeface="Times New Roman" panose="02020603050405020304" pitchFamily="18" charset="0"/>
            </a:endParaRPr>
          </a:p>
          <a:p>
            <a:pPr lvl="0">
              <a:lnSpc>
                <a:spcPct val="80000"/>
              </a:lnSpc>
              <a:buClrTx/>
              <a:buSzPts val="3200"/>
            </a:pPr>
            <a:endParaRPr lang="en-US" sz="2400" dirty="0">
              <a:solidFill>
                <a:schemeClr val="tx1"/>
              </a:solidFill>
            </a:endParaRPr>
          </a:p>
          <a:p>
            <a:pPr lvl="1"/>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a:t>
            </a:r>
          </a:p>
          <a:p>
            <a:pPr lvl="0">
              <a:buClr>
                <a:srgbClr val="FF0000"/>
              </a:buClr>
              <a:buSzPts val="3200"/>
            </a:pPr>
            <a:endParaRPr lang="en-IN" sz="2400" dirty="0" smtClean="0">
              <a:latin typeface="Times New Roman" panose="02020603050405020304" pitchFamily="18" charset="0"/>
              <a:cs typeface="Times New Roman" panose="02020603050405020304" pitchFamily="18" charset="0"/>
            </a:endParaRPr>
          </a:p>
          <a:p>
            <a:pPr marL="342900" lvl="0" indent="-342900">
              <a:buClr>
                <a:srgbClr val="FF0000"/>
              </a:buClr>
              <a:buSzPts val="3200"/>
              <a:buFont typeface="Arial" panose="020B0604020202020204" pitchFamily="34" charset="0"/>
              <a:buChar char="•"/>
            </a:pPr>
            <a:endParaRPr lang="en-US" sz="2400" dirty="0">
              <a:solidFill>
                <a:srgbClr val="FF0000"/>
              </a:solidFill>
              <a:latin typeface="Times New Roman" panose="02020603050405020304" pitchFamily="18" charset="0"/>
              <a:ea typeface="Calibri"/>
              <a:cs typeface="Times New Roman" panose="02020603050405020304" pitchFamily="18" charset="0"/>
              <a:sym typeface="Lato Black"/>
            </a:endParaRPr>
          </a:p>
          <a:p>
            <a:pPr lvl="0">
              <a:lnSpc>
                <a:spcPct val="80000"/>
              </a:lnSpc>
              <a:buClr>
                <a:srgbClr val="FF0000"/>
              </a:buClr>
              <a:buSzPts val="3200"/>
            </a:pPr>
            <a:endParaRPr lang="en-US" sz="2400" dirty="0" smtClean="0">
              <a:solidFill>
                <a:srgbClr val="FF0000"/>
              </a:solidFill>
              <a:latin typeface="Times New Roman" panose="02020603050405020304" pitchFamily="18" charset="0"/>
              <a:ea typeface="Calibri"/>
              <a:cs typeface="Times New Roman" panose="02020603050405020304" pitchFamily="18" charset="0"/>
              <a:sym typeface="Lato Black"/>
            </a:endParaRPr>
          </a:p>
          <a:p>
            <a:pPr marL="457200" marR="0" lvl="0" indent="-457200" algn="l" rtl="0">
              <a:lnSpc>
                <a:spcPct val="80000"/>
              </a:lnSpc>
              <a:spcBef>
                <a:spcPts val="0"/>
              </a:spcBef>
              <a:spcAft>
                <a:spcPts val="0"/>
              </a:spcAft>
              <a:buClr>
                <a:srgbClr val="FF0000"/>
              </a:buClr>
              <a:buSzPts val="3200"/>
              <a:buFont typeface="Arial" panose="020B0604020202020204" pitchFamily="34" charset="0"/>
              <a:buChar char="•"/>
            </a:pPr>
            <a:endParaRPr lang="en-US" sz="3200" dirty="0">
              <a:solidFill>
                <a:srgbClr val="FF0000"/>
              </a:solidFill>
              <a:latin typeface="Lato Black"/>
              <a:ea typeface="Calibri"/>
              <a:cs typeface="Calibri"/>
              <a:sym typeface="Lato Black"/>
            </a:endParaRPr>
          </a:p>
          <a:p>
            <a:pPr marL="457200" marR="0" lvl="0" indent="-457200" algn="l" rtl="0">
              <a:lnSpc>
                <a:spcPct val="80000"/>
              </a:lnSpc>
              <a:spcBef>
                <a:spcPts val="0"/>
              </a:spcBef>
              <a:spcAft>
                <a:spcPts val="0"/>
              </a:spcAft>
              <a:buClr>
                <a:srgbClr val="FF0000"/>
              </a:buClr>
              <a:buSzPts val="3200"/>
              <a:buFont typeface="Arial" panose="020B0604020202020204" pitchFamily="34" charset="0"/>
              <a:buChar char="•"/>
            </a:pPr>
            <a:endParaRPr lang="en-US" sz="3200" dirty="0" smtClean="0">
              <a:solidFill>
                <a:srgbClr val="FF0000"/>
              </a:solidFill>
              <a:latin typeface="Lato Black"/>
              <a:ea typeface="Calibri"/>
              <a:cs typeface="Calibri"/>
              <a:sym typeface="Lato Black"/>
            </a:endParaRPr>
          </a:p>
          <a:p>
            <a:pPr marL="457200" marR="0" lvl="0" indent="-457200" algn="l" rtl="0">
              <a:lnSpc>
                <a:spcPct val="80000"/>
              </a:lnSpc>
              <a:spcBef>
                <a:spcPts val="0"/>
              </a:spcBef>
              <a:spcAft>
                <a:spcPts val="0"/>
              </a:spcAft>
              <a:buClr>
                <a:srgbClr val="FF0000"/>
              </a:buClr>
              <a:buSzPts val="3200"/>
              <a:buFont typeface="Arial" panose="020B0604020202020204" pitchFamily="34" charset="0"/>
              <a:buChar char="•"/>
            </a:pPr>
            <a:endParaRPr lang="en-US" sz="3200" dirty="0">
              <a:solidFill>
                <a:srgbClr val="FF0000"/>
              </a:solidFill>
              <a:latin typeface="Lato Black"/>
              <a:ea typeface="Calibri"/>
              <a:cs typeface="Calibri"/>
              <a:sym typeface="Lato Black"/>
            </a:endParaRPr>
          </a:p>
          <a:p>
            <a:pPr marL="457200" marR="0" lvl="0" indent="-457200" algn="l" rtl="0">
              <a:lnSpc>
                <a:spcPct val="80000"/>
              </a:lnSpc>
              <a:spcBef>
                <a:spcPts val="0"/>
              </a:spcBef>
              <a:spcAft>
                <a:spcPts val="0"/>
              </a:spcAft>
              <a:buClr>
                <a:srgbClr val="FF0000"/>
              </a:buClr>
              <a:buSzPts val="3200"/>
              <a:buFont typeface="Arial" panose="020B0604020202020204" pitchFamily="34" charset="0"/>
              <a:buChar char="•"/>
            </a:pPr>
            <a:endParaRPr lang="en-US" sz="3200" dirty="0" smtClean="0">
              <a:solidFill>
                <a:srgbClr val="FF0000"/>
              </a:solidFill>
              <a:latin typeface="Lato Black"/>
              <a:ea typeface="Calibri"/>
              <a:cs typeface="Calibri"/>
              <a:sym typeface="Lato Black"/>
            </a:endParaRPr>
          </a:p>
          <a:p>
            <a:pPr marL="342900" marR="0" lvl="0" indent="-342900" algn="l" rtl="0">
              <a:lnSpc>
                <a:spcPct val="80000"/>
              </a:lnSpc>
              <a:spcBef>
                <a:spcPts val="0"/>
              </a:spcBef>
              <a:spcAft>
                <a:spcPts val="0"/>
              </a:spcAft>
              <a:buClr>
                <a:srgbClr val="FF0000"/>
              </a:buClr>
              <a:buSzPts val="3200"/>
              <a:buFont typeface="Arial" panose="020B0604020202020204" pitchFamily="34" charset="0"/>
              <a:buChar char="•"/>
            </a:pPr>
            <a:endParaRPr lang="en-US" sz="2400" dirty="0" smtClean="0">
              <a:solidFill>
                <a:srgbClr val="FF0000"/>
              </a:solidFill>
              <a:latin typeface="Lato Black"/>
              <a:ea typeface="Calibri"/>
              <a:cs typeface="Calibri"/>
              <a:sym typeface="Lato Black"/>
            </a:endParaRPr>
          </a:p>
          <a:p>
            <a:pPr marL="457200" marR="0" lvl="0" indent="-457200" algn="l" rtl="0">
              <a:lnSpc>
                <a:spcPct val="80000"/>
              </a:lnSpc>
              <a:spcBef>
                <a:spcPts val="0"/>
              </a:spcBef>
              <a:spcAft>
                <a:spcPts val="0"/>
              </a:spcAft>
              <a:buClr>
                <a:srgbClr val="FF0000"/>
              </a:buClr>
              <a:buSzPts val="3200"/>
              <a:buFont typeface="Arial" panose="020B0604020202020204" pitchFamily="34" charset="0"/>
              <a:buChar char="•"/>
            </a:pPr>
            <a:endParaRPr lang="en-US" sz="3200" b="0" i="0" u="none" strike="noStrike" cap="none" dirty="0">
              <a:solidFill>
                <a:srgbClr val="FF0000"/>
              </a:solidFill>
              <a:latin typeface="Lato Black"/>
              <a:ea typeface="Calibri"/>
              <a:cs typeface="Calibri"/>
              <a:sym typeface="Lato Black"/>
            </a:endParaRPr>
          </a:p>
          <a:p>
            <a:pPr marL="285750" marR="0" lvl="0" indent="-285750" algn="l" rtl="0">
              <a:lnSpc>
                <a:spcPct val="80000"/>
              </a:lnSpc>
              <a:spcBef>
                <a:spcPts val="0"/>
              </a:spcBef>
              <a:spcAft>
                <a:spcPts val="0"/>
              </a:spcAft>
              <a:buClr>
                <a:srgbClr val="FF0000"/>
              </a:buClr>
              <a:buSzPts val="3200"/>
              <a:buFont typeface="Arial" panose="020B0604020202020204" pitchFamily="34" charset="0"/>
              <a:buChar char="•"/>
            </a:pPr>
            <a:endParaRPr sz="1800" b="0" i="0" u="none" strike="noStrike" cap="none" dirty="0">
              <a:solidFill>
                <a:srgbClr val="FF0000"/>
              </a:solidFill>
              <a:latin typeface="Calibri"/>
              <a:ea typeface="Calibri"/>
              <a:cs typeface="Calibri"/>
              <a:sym typeface="Calibri"/>
            </a:endParaRPr>
          </a:p>
        </p:txBody>
      </p:sp>
    </p:spTree>
    <p:extLst>
      <p:ext uri="{BB962C8B-B14F-4D97-AF65-F5344CB8AC3E}">
        <p14:creationId xmlns:p14="http://schemas.microsoft.com/office/powerpoint/2010/main" val="138962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0" y="149268"/>
            <a:ext cx="12192000" cy="1471132"/>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600" b="1" i="0" u="none" strike="noStrike" cap="none" dirty="0" smtClean="0">
                <a:solidFill>
                  <a:srgbClr val="FF0000"/>
                </a:solidFill>
                <a:latin typeface="Times New Roman" panose="02020603050405020304" pitchFamily="18" charset="0"/>
                <a:ea typeface="Lato Black"/>
                <a:cs typeface="Times New Roman" panose="02020603050405020304" pitchFamily="18" charset="0"/>
                <a:sym typeface="Lato Black"/>
              </a:rPr>
              <a:t>Analysis and Interpretation</a:t>
            </a:r>
          </a:p>
          <a:p>
            <a:pPr marL="0" marR="0" lvl="0" indent="0" algn="l" rtl="0">
              <a:lnSpc>
                <a:spcPct val="80000"/>
              </a:lnSpc>
              <a:spcBef>
                <a:spcPts val="0"/>
              </a:spcBef>
              <a:spcAft>
                <a:spcPts val="0"/>
              </a:spcAft>
              <a:buClr>
                <a:srgbClr val="FF0000"/>
              </a:buClr>
              <a:buSzPts val="3200"/>
              <a:buFont typeface="Lato Black"/>
              <a:buNone/>
            </a:pPr>
            <a:endParaRPr lang="en-US" sz="2400" b="1" dirty="0" smtClean="0">
              <a:solidFill>
                <a:srgbClr val="FF0000"/>
              </a:solidFill>
              <a:latin typeface="Times New Roman" panose="02020603050405020304" pitchFamily="18" charset="0"/>
              <a:ea typeface="Lato Black"/>
              <a:cs typeface="Times New Roman" panose="02020603050405020304" pitchFamily="18" charset="0"/>
              <a:sym typeface="Lato Black"/>
            </a:endParaRPr>
          </a:p>
          <a:p>
            <a:pPr marL="0" marR="0" lvl="0" indent="0" algn="l" rtl="0">
              <a:lnSpc>
                <a:spcPct val="80000"/>
              </a:lnSpc>
              <a:spcBef>
                <a:spcPts val="0"/>
              </a:spcBef>
              <a:spcAft>
                <a:spcPts val="0"/>
              </a:spcAft>
              <a:buClr>
                <a:srgbClr val="FF0000"/>
              </a:buClr>
              <a:buSzPts val="3200"/>
              <a:buFont typeface="Lato Black"/>
              <a:buNone/>
            </a:pPr>
            <a:r>
              <a:rPr lang="en-US" sz="2800" b="1" dirty="0" smtClean="0">
                <a:solidFill>
                  <a:schemeClr val="tx1"/>
                </a:solidFill>
                <a:latin typeface="Times New Roman" panose="02020603050405020304" pitchFamily="18" charset="0"/>
                <a:ea typeface="Lato Black"/>
                <a:cs typeface="Times New Roman" panose="02020603050405020304" pitchFamily="18" charset="0"/>
                <a:sym typeface="Lato Black"/>
              </a:rPr>
              <a:t>Univariate Analysis</a:t>
            </a:r>
            <a:endParaRPr lang="en-IN" sz="2800" b="1" i="0" u="none" strike="noStrike" cap="none" dirty="0" smtClean="0">
              <a:solidFill>
                <a:schemeClr val="tx1"/>
              </a:solidFill>
              <a:latin typeface="Times New Roman" panose="02020603050405020304" pitchFamily="18" charset="0"/>
              <a:ea typeface="Lato Black"/>
              <a:cs typeface="Times New Roman" panose="02020603050405020304" pitchFamily="18" charset="0"/>
              <a:sym typeface="Lato Black"/>
            </a:endParaRPr>
          </a:p>
          <a:p>
            <a:pPr marL="0" marR="0" lvl="0" indent="0" algn="l" rtl="0">
              <a:lnSpc>
                <a:spcPct val="80000"/>
              </a:lnSpc>
              <a:spcBef>
                <a:spcPts val="0"/>
              </a:spcBef>
              <a:spcAft>
                <a:spcPts val="0"/>
              </a:spcAft>
              <a:buClr>
                <a:srgbClr val="FF0000"/>
              </a:buClr>
              <a:buSzPts val="3200"/>
              <a:buFont typeface="Lato Black"/>
              <a:buNone/>
            </a:pPr>
            <a:endParaRPr sz="24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2234" y="1510145"/>
            <a:ext cx="5850566" cy="2623904"/>
          </a:xfrm>
          <a:prstGeom prst="rect">
            <a:avLst/>
          </a:prstGeom>
        </p:spPr>
      </p:pic>
      <p:sp>
        <p:nvSpPr>
          <p:cNvPr id="3" name="TextBox 2"/>
          <p:cNvSpPr txBox="1"/>
          <p:nvPr/>
        </p:nvSpPr>
        <p:spPr>
          <a:xfrm>
            <a:off x="110836" y="4134049"/>
            <a:ext cx="10404763" cy="2677656"/>
          </a:xfrm>
          <a:prstGeom prst="rect">
            <a:avLst/>
          </a:prstGeom>
          <a:noFill/>
        </p:spPr>
        <p:txBody>
          <a:bodyPr wrap="square" rtlCol="0">
            <a:spAutoFit/>
          </a:bodyPr>
          <a:lstStyle/>
          <a:p>
            <a:r>
              <a:rPr lang="en-US" sz="2400" b="1" dirty="0" smtClean="0">
                <a:latin typeface="Times New Roman" panose="02020603050405020304" pitchFamily="18" charset="0"/>
                <a:cs typeface="Times New Roman" panose="02020603050405020304" pitchFamily="18" charset="0"/>
              </a:rPr>
              <a:t>1.What </a:t>
            </a:r>
            <a:r>
              <a:rPr lang="en-US" sz="2400" b="1" dirty="0">
                <a:latin typeface="Times New Roman" panose="02020603050405020304" pitchFamily="18" charset="0"/>
                <a:cs typeface="Times New Roman" panose="02020603050405020304" pitchFamily="18" charset="0"/>
              </a:rPr>
              <a:t>is the most common price range of products</a:t>
            </a:r>
            <a:r>
              <a:rPr lang="en-US" sz="2400" b="1"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Most products are priced between </a:t>
            </a:r>
            <a:r>
              <a:rPr lang="en-US" sz="2400" b="1" dirty="0">
                <a:latin typeface="Times New Roman" panose="02020603050405020304" pitchFamily="18" charset="0"/>
                <a:cs typeface="Times New Roman" panose="02020603050405020304" pitchFamily="18" charset="0"/>
              </a:rPr>
              <a:t>₹300 and ₹400</a:t>
            </a:r>
            <a:r>
              <a:rPr lang="en-US" sz="2400" dirty="0">
                <a:latin typeface="Times New Roman" panose="02020603050405020304" pitchFamily="18" charset="0"/>
                <a:cs typeface="Times New Roman" panose="02020603050405020304" pitchFamily="18" charset="0"/>
              </a:rPr>
              <a:t>, which is the most frequent price range</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2.</a:t>
            </a:r>
            <a:r>
              <a:rPr lang="en-US" sz="2400" b="1" dirty="0"/>
              <a:t> Around which value is the highest concentration observed</a:t>
            </a:r>
            <a:r>
              <a:rPr lang="en-US" sz="2400" b="1" dirty="0" smtClean="0"/>
              <a:t>?</a:t>
            </a:r>
          </a:p>
          <a:p>
            <a:r>
              <a:rPr lang="en-US" sz="2400" dirty="0"/>
              <a:t>The highest concentration of products is observed around </a:t>
            </a:r>
            <a:r>
              <a:rPr lang="en-US" sz="2400" b="1" dirty="0"/>
              <a:t>₹350</a:t>
            </a:r>
            <a:r>
              <a:rPr lang="en-US" sz="2400" dirty="0"/>
              <a:t>, indicating it as the modal price.</a:t>
            </a:r>
            <a:endParaRPr lang="en-US" sz="2400" b="1" dirty="0" smtClean="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825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2" name="TextBox 1"/>
          <p:cNvSpPr txBox="1"/>
          <p:nvPr/>
        </p:nvSpPr>
        <p:spPr>
          <a:xfrm>
            <a:off x="0" y="346364"/>
            <a:ext cx="11720945" cy="6740307"/>
          </a:xfrm>
          <a:prstGeom prst="rect">
            <a:avLst/>
          </a:prstGeom>
          <a:noFill/>
        </p:spPr>
        <p:txBody>
          <a:bodyPr wrap="square" rtlCol="0">
            <a:spAutoFit/>
          </a:bodyPr>
          <a:lstStyle/>
          <a:p>
            <a:endParaRPr lang="en-US" sz="2400" dirty="0"/>
          </a:p>
          <a:p>
            <a:endParaRPr lang="en-US" sz="2400" dirty="0" smtClean="0"/>
          </a:p>
          <a:p>
            <a:endParaRPr lang="en-US" sz="2400" dirty="0" smtClean="0"/>
          </a:p>
          <a:p>
            <a:endParaRPr lang="en-US" sz="2400" dirty="0"/>
          </a:p>
          <a:p>
            <a:endParaRPr lang="en-US" sz="2400" dirty="0" smtClean="0"/>
          </a:p>
          <a:p>
            <a:endParaRPr lang="en-US" sz="2400" dirty="0"/>
          </a:p>
          <a:p>
            <a:endParaRPr lang="en-US" sz="2400" dirty="0"/>
          </a:p>
          <a:p>
            <a:endParaRPr lang="en-US" sz="2400" dirty="0"/>
          </a:p>
          <a:p>
            <a:r>
              <a:rPr lang="en-US" sz="2400" b="1" dirty="0" smtClean="0">
                <a:latin typeface="Times New Roman" panose="02020603050405020304" pitchFamily="18" charset="0"/>
                <a:cs typeface="Times New Roman" panose="02020603050405020304" pitchFamily="18" charset="0"/>
              </a:rPr>
              <a:t>1.Which </a:t>
            </a:r>
            <a:r>
              <a:rPr lang="en-US" sz="2400" b="1" dirty="0">
                <a:latin typeface="Times New Roman" panose="02020603050405020304" pitchFamily="18" charset="0"/>
                <a:cs typeface="Times New Roman" panose="02020603050405020304" pitchFamily="18" charset="0"/>
              </a:rPr>
              <a:t>product type is the most frequent in the dataset</a:t>
            </a:r>
            <a:r>
              <a:rPr lang="en-US" sz="2400" b="1" dirty="0" smtClean="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T-Shirt</a:t>
            </a:r>
            <a:r>
              <a:rPr lang="en-US" sz="2400" dirty="0">
                <a:latin typeface="Times New Roman" panose="02020603050405020304" pitchFamily="18" charset="0"/>
                <a:cs typeface="Times New Roman" panose="02020603050405020304" pitchFamily="18" charset="0"/>
              </a:rPr>
              <a:t> is the most frequent product type, having the highest count among all categories</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Which product types are least represented</a:t>
            </a:r>
            <a:r>
              <a:rPr lang="en-US" sz="2400" b="1" dirty="0" smtClean="0">
                <a:latin typeface="Times New Roman" panose="02020603050405020304" pitchFamily="18" charset="0"/>
                <a:cs typeface="Times New Roman" panose="02020603050405020304" pitchFamily="18" charset="0"/>
              </a:rPr>
              <a:t>?</a:t>
            </a:r>
          </a:p>
          <a:p>
            <a:r>
              <a:rPr lang="en-US" sz="2400" b="1" dirty="0">
                <a:latin typeface="Times New Roman" panose="02020603050405020304" pitchFamily="18" charset="0"/>
                <a:cs typeface="Times New Roman" panose="02020603050405020304" pitchFamily="18" charset="0"/>
              </a:rPr>
              <a:t>Jeans, Salwar, and Shorts</a:t>
            </a:r>
            <a:r>
              <a:rPr lang="en-US" sz="2400" dirty="0">
                <a:latin typeface="Times New Roman" panose="02020603050405020304" pitchFamily="18" charset="0"/>
                <a:cs typeface="Times New Roman" panose="02020603050405020304" pitchFamily="18" charset="0"/>
              </a:rPr>
              <a:t> are the least represented product types with very low frequencies</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3.</a:t>
            </a:r>
            <a:r>
              <a:rPr lang="en-US" sz="2400" b="1" dirty="0"/>
              <a:t> </a:t>
            </a:r>
            <a:r>
              <a:rPr lang="en-US" sz="2400" b="1" dirty="0">
                <a:latin typeface="Times New Roman" panose="02020603050405020304" pitchFamily="18" charset="0"/>
                <a:cs typeface="Times New Roman" panose="02020603050405020304" pitchFamily="18" charset="0"/>
              </a:rPr>
              <a:t>What does the distribution of product types indicate?</a:t>
            </a: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distribution is </a:t>
            </a:r>
            <a:r>
              <a:rPr lang="en-US" sz="2400" b="1" dirty="0">
                <a:latin typeface="Times New Roman" panose="02020603050405020304" pitchFamily="18" charset="0"/>
                <a:cs typeface="Times New Roman" panose="02020603050405020304" pitchFamily="18" charset="0"/>
              </a:rPr>
              <a:t>highly imbalanced</a:t>
            </a:r>
            <a:r>
              <a:rPr lang="en-US" sz="2400" dirty="0">
                <a:latin typeface="Times New Roman" panose="02020603050405020304" pitchFamily="18" charset="0"/>
                <a:cs typeface="Times New Roman" panose="02020603050405020304" pitchFamily="18" charset="0"/>
              </a:rPr>
              <a:t>, with a large concentration of products in the </a:t>
            </a:r>
            <a:r>
              <a:rPr lang="en-US" sz="2400" b="1" dirty="0">
                <a:latin typeface="Times New Roman" panose="02020603050405020304" pitchFamily="18" charset="0"/>
                <a:cs typeface="Times New Roman" panose="02020603050405020304" pitchFamily="18" charset="0"/>
              </a:rPr>
              <a:t>T-Shirt and Shirt</a:t>
            </a:r>
            <a:r>
              <a:rPr lang="en-US" sz="2400" dirty="0">
                <a:latin typeface="Times New Roman" panose="02020603050405020304" pitchFamily="18" charset="0"/>
                <a:cs typeface="Times New Roman" panose="02020603050405020304" pitchFamily="18" charset="0"/>
              </a:rPr>
              <a:t> categories.</a:t>
            </a: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310644" y="189085"/>
            <a:ext cx="9326277" cy="2901149"/>
          </a:xfrm>
          <a:prstGeom prst="rect">
            <a:avLst/>
          </a:prstGeom>
        </p:spPr>
      </p:pic>
    </p:spTree>
    <p:extLst>
      <p:ext uri="{BB962C8B-B14F-4D97-AF65-F5344CB8AC3E}">
        <p14:creationId xmlns:p14="http://schemas.microsoft.com/office/powerpoint/2010/main" val="72517841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0363" y="0"/>
            <a:ext cx="7502799" cy="3338945"/>
          </a:xfrm>
          <a:prstGeom prst="rect">
            <a:avLst/>
          </a:prstGeom>
        </p:spPr>
      </p:pic>
      <p:sp>
        <p:nvSpPr>
          <p:cNvPr id="4" name="Rectangle 3"/>
          <p:cNvSpPr/>
          <p:nvPr/>
        </p:nvSpPr>
        <p:spPr>
          <a:xfrm>
            <a:off x="124691" y="3338945"/>
            <a:ext cx="11887199" cy="3262432"/>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1.What </a:t>
            </a:r>
            <a:r>
              <a:rPr lang="en-US" sz="2400" b="1" dirty="0">
                <a:latin typeface="Times New Roman" panose="02020603050405020304" pitchFamily="18" charset="0"/>
                <a:cs typeface="Times New Roman" panose="02020603050405020304" pitchFamily="18" charset="0"/>
              </a:rPr>
              <a:t>is the common rating range observed</a:t>
            </a:r>
            <a:r>
              <a:rPr lang="en-US" sz="2400" b="1"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Most product ratings lie between </a:t>
            </a:r>
            <a:r>
              <a:rPr lang="en-US" sz="2400" b="1" dirty="0">
                <a:latin typeface="Times New Roman" panose="02020603050405020304" pitchFamily="18" charset="0"/>
                <a:cs typeface="Times New Roman" panose="02020603050405020304" pitchFamily="18" charset="0"/>
              </a:rPr>
              <a:t>3.5 and 4.5</a:t>
            </a:r>
            <a:r>
              <a:rPr lang="en-US" sz="2400" dirty="0">
                <a:latin typeface="Times New Roman" panose="02020603050405020304" pitchFamily="18" charset="0"/>
                <a:cs typeface="Times New Roman" panose="02020603050405020304" pitchFamily="18" charset="0"/>
              </a:rPr>
              <a:t>, indicating generally positive customer </a:t>
            </a:r>
            <a:r>
              <a:rPr lang="en-US" sz="2400" dirty="0" smtClean="0">
                <a:latin typeface="Times New Roman" panose="02020603050405020304" pitchFamily="18" charset="0"/>
                <a:cs typeface="Times New Roman" panose="02020603050405020304" pitchFamily="18" charset="0"/>
              </a:rPr>
              <a:t>feedback</a:t>
            </a:r>
          </a:p>
          <a:p>
            <a:r>
              <a:rPr lang="en-US" sz="2400" b="1" dirty="0" smtClean="0">
                <a:latin typeface="Times New Roman" panose="02020603050405020304" pitchFamily="18" charset="0"/>
                <a:cs typeface="Times New Roman" panose="02020603050405020304" pitchFamily="18" charset="0"/>
              </a:rPr>
              <a:t>2.What </a:t>
            </a:r>
            <a:r>
              <a:rPr lang="en-US" sz="2400" b="1" dirty="0">
                <a:latin typeface="Times New Roman" panose="02020603050405020304" pitchFamily="18" charset="0"/>
                <a:cs typeface="Times New Roman" panose="02020603050405020304" pitchFamily="18" charset="0"/>
              </a:rPr>
              <a:t>does the peak of the histogram indicate?</a:t>
            </a:r>
          </a:p>
          <a:p>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peak indicates the </a:t>
            </a:r>
            <a:r>
              <a:rPr lang="en-US" sz="2400" b="1" dirty="0">
                <a:latin typeface="Times New Roman" panose="02020603050405020304" pitchFamily="18" charset="0"/>
                <a:cs typeface="Times New Roman" panose="02020603050405020304" pitchFamily="18" charset="0"/>
              </a:rPr>
              <a:t>most frequent rating range</a:t>
            </a:r>
            <a:r>
              <a:rPr lang="en-US" sz="2400" dirty="0">
                <a:latin typeface="Times New Roman" panose="02020603050405020304" pitchFamily="18" charset="0"/>
                <a:cs typeface="Times New Roman" panose="02020603050405020304" pitchFamily="18" charset="0"/>
              </a:rPr>
              <a:t>, which is around </a:t>
            </a:r>
            <a:r>
              <a:rPr lang="en-US" sz="2400" b="1" dirty="0">
                <a:latin typeface="Times New Roman" panose="02020603050405020304" pitchFamily="18" charset="0"/>
                <a:cs typeface="Times New Roman" panose="02020603050405020304" pitchFamily="18" charset="0"/>
              </a:rPr>
              <a:t>3.5 to 4.0</a:t>
            </a:r>
            <a:r>
              <a:rPr lang="en-US" sz="2400" dirty="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3.What </a:t>
            </a:r>
            <a:r>
              <a:rPr lang="en-US" sz="2400" b="1" dirty="0">
                <a:latin typeface="Times New Roman" panose="02020603050405020304" pitchFamily="18" charset="0"/>
                <a:cs typeface="Times New Roman" panose="02020603050405020304" pitchFamily="18" charset="0"/>
              </a:rPr>
              <a:t>business insight can be drawn from this distribution?</a:t>
            </a:r>
          </a:p>
          <a:p>
            <a:r>
              <a:rPr lang="en-US" sz="2400" dirty="0" smtClean="0">
                <a:latin typeface="Times New Roman" panose="02020603050405020304" pitchFamily="18" charset="0"/>
                <a:cs typeface="Times New Roman" panose="02020603050405020304" pitchFamily="18" charset="0"/>
              </a:rPr>
              <a:t>Most </a:t>
            </a:r>
            <a:r>
              <a:rPr lang="en-US" sz="2400" dirty="0">
                <a:latin typeface="Times New Roman" panose="02020603050405020304" pitchFamily="18" charset="0"/>
                <a:cs typeface="Times New Roman" panose="02020603050405020304" pitchFamily="18" charset="0"/>
              </a:rPr>
              <a:t>products receive </a:t>
            </a:r>
            <a:r>
              <a:rPr lang="en-US" sz="2400" b="1" dirty="0">
                <a:latin typeface="Times New Roman" panose="02020603050405020304" pitchFamily="18" charset="0"/>
                <a:cs typeface="Times New Roman" panose="02020603050405020304" pitchFamily="18" charset="0"/>
              </a:rPr>
              <a:t>good customer ratings</a:t>
            </a:r>
            <a:r>
              <a:rPr lang="en-US" sz="2400" dirty="0">
                <a:latin typeface="Times New Roman" panose="02020603050405020304" pitchFamily="18" charset="0"/>
                <a:cs typeface="Times New Roman" panose="02020603050405020304" pitchFamily="18" charset="0"/>
              </a:rPr>
              <a:t>, suggesting satisfactory product quality and customer experience.</a:t>
            </a:r>
          </a:p>
          <a:p>
            <a:endParaRPr lang="en-US" sz="2400"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44352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2" name="TextBox 1"/>
          <p:cNvSpPr txBox="1"/>
          <p:nvPr/>
        </p:nvSpPr>
        <p:spPr>
          <a:xfrm>
            <a:off x="159026" y="106018"/>
            <a:ext cx="3074504" cy="738664"/>
          </a:xfrm>
          <a:prstGeom prst="rect">
            <a:avLst/>
          </a:prstGeom>
          <a:noFill/>
        </p:spPr>
        <p:txBody>
          <a:bodyPr wrap="square" rtlCol="0">
            <a:spAutoFit/>
          </a:bodyPr>
          <a:lstStyle/>
          <a:p>
            <a:pPr lvl="0"/>
            <a:r>
              <a:rPr lang="en-US" sz="2800" b="1" dirty="0">
                <a:solidFill>
                  <a:schemeClr val="tx1"/>
                </a:solidFill>
                <a:latin typeface="Times New Roman" panose="02020603050405020304" pitchFamily="18" charset="0"/>
                <a:ea typeface="Lato Black"/>
                <a:cs typeface="Times New Roman" panose="02020603050405020304" pitchFamily="18" charset="0"/>
                <a:sym typeface="Lato Black"/>
              </a:rPr>
              <a:t>B</a:t>
            </a:r>
            <a:r>
              <a:rPr lang="en-US" sz="2800" b="1" dirty="0" smtClean="0">
                <a:solidFill>
                  <a:schemeClr val="tx1"/>
                </a:solidFill>
                <a:latin typeface="Times New Roman" panose="02020603050405020304" pitchFamily="18" charset="0"/>
                <a:ea typeface="Lato Black"/>
                <a:cs typeface="Times New Roman" panose="02020603050405020304" pitchFamily="18" charset="0"/>
                <a:sym typeface="Lato Black"/>
              </a:rPr>
              <a:t>ivariate </a:t>
            </a:r>
            <a:r>
              <a:rPr lang="en-US" sz="2800" b="1" dirty="0">
                <a:solidFill>
                  <a:schemeClr val="tx1"/>
                </a:solidFill>
                <a:latin typeface="Times New Roman" panose="02020603050405020304" pitchFamily="18" charset="0"/>
                <a:ea typeface="Lato Black"/>
                <a:cs typeface="Times New Roman" panose="02020603050405020304" pitchFamily="18" charset="0"/>
                <a:sym typeface="Lato Black"/>
              </a:rPr>
              <a:t>Analysis</a:t>
            </a:r>
            <a:endParaRPr lang="en-IN" sz="2800" b="1" dirty="0">
              <a:solidFill>
                <a:schemeClr val="tx1"/>
              </a:solidFill>
              <a:latin typeface="Times New Roman" panose="02020603050405020304" pitchFamily="18" charset="0"/>
              <a:ea typeface="Lato Black"/>
              <a:cs typeface="Times New Roman" panose="02020603050405020304" pitchFamily="18" charset="0"/>
              <a:sym typeface="Lato Black"/>
            </a:endParaRPr>
          </a:p>
          <a:p>
            <a:endParaRPr lang="en-IN" dirty="0"/>
          </a:p>
        </p:txBody>
      </p:sp>
      <p:pic>
        <p:nvPicPr>
          <p:cNvPr id="3" name="Picture 2"/>
          <p:cNvPicPr>
            <a:picLocks noChangeAspect="1"/>
          </p:cNvPicPr>
          <p:nvPr/>
        </p:nvPicPr>
        <p:blipFill>
          <a:blip r:embed="rId3"/>
          <a:stretch>
            <a:fillRect/>
          </a:stretch>
        </p:blipFill>
        <p:spPr>
          <a:xfrm>
            <a:off x="3206939" y="364171"/>
            <a:ext cx="5804625" cy="2331506"/>
          </a:xfrm>
          <a:prstGeom prst="rect">
            <a:avLst/>
          </a:prstGeom>
        </p:spPr>
      </p:pic>
      <p:sp>
        <p:nvSpPr>
          <p:cNvPr id="4" name="Rectangle 3"/>
          <p:cNvSpPr/>
          <p:nvPr/>
        </p:nvSpPr>
        <p:spPr>
          <a:xfrm>
            <a:off x="265044" y="2695677"/>
            <a:ext cx="11688416" cy="4154984"/>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1.Is </a:t>
            </a:r>
            <a:r>
              <a:rPr lang="en-US" sz="2400" b="1" dirty="0">
                <a:latin typeface="Times New Roman" panose="02020603050405020304" pitchFamily="18" charset="0"/>
                <a:cs typeface="Times New Roman" panose="02020603050405020304" pitchFamily="18" charset="0"/>
              </a:rPr>
              <a:t>there a strong relationship between price and ratings?</a:t>
            </a:r>
          </a:p>
          <a:p>
            <a:r>
              <a:rPr lang="en-US" sz="2400" dirty="0" smtClean="0">
                <a:latin typeface="Times New Roman" panose="02020603050405020304" pitchFamily="18" charset="0"/>
                <a:cs typeface="Times New Roman" panose="02020603050405020304" pitchFamily="18" charset="0"/>
              </a:rPr>
              <a:t>No </a:t>
            </a:r>
            <a:r>
              <a:rPr lang="en-US" sz="2400" dirty="0">
                <a:latin typeface="Times New Roman" panose="02020603050405020304" pitchFamily="18" charset="0"/>
                <a:cs typeface="Times New Roman" panose="02020603050405020304" pitchFamily="18" charset="0"/>
              </a:rPr>
              <a:t>strong linear relationship is observed. Ratings remain mostly between </a:t>
            </a:r>
            <a:r>
              <a:rPr lang="en-US" sz="2400" b="1" dirty="0">
                <a:latin typeface="Times New Roman" panose="02020603050405020304" pitchFamily="18" charset="0"/>
                <a:cs typeface="Times New Roman" panose="02020603050405020304" pitchFamily="18" charset="0"/>
              </a:rPr>
              <a:t>3 and 5</a:t>
            </a:r>
            <a:r>
              <a:rPr lang="en-US" sz="2400" dirty="0">
                <a:latin typeface="Times New Roman" panose="02020603050405020304" pitchFamily="18" charset="0"/>
                <a:cs typeface="Times New Roman" panose="02020603050405020304" pitchFamily="18" charset="0"/>
              </a:rPr>
              <a:t> across all price levels</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2</a:t>
            </a:r>
            <a:r>
              <a:rPr lang="en-US" sz="2400" dirty="0" smtClean="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Where are most data points concentrated?</a:t>
            </a:r>
          </a:p>
          <a:p>
            <a:r>
              <a:rPr lang="en-US" sz="2400" dirty="0" smtClean="0">
                <a:latin typeface="Times New Roman" panose="02020603050405020304" pitchFamily="18" charset="0"/>
                <a:cs typeface="Times New Roman" panose="02020603050405020304" pitchFamily="18" charset="0"/>
              </a:rPr>
              <a:t>Most </a:t>
            </a:r>
            <a:r>
              <a:rPr lang="en-US" sz="2400" dirty="0">
                <a:latin typeface="Times New Roman" panose="02020603050405020304" pitchFamily="18" charset="0"/>
                <a:cs typeface="Times New Roman" panose="02020603050405020304" pitchFamily="18" charset="0"/>
              </a:rPr>
              <a:t>products are concentrated in the </a:t>
            </a:r>
            <a:r>
              <a:rPr lang="en-US" sz="2400" b="1" dirty="0">
                <a:latin typeface="Times New Roman" panose="02020603050405020304" pitchFamily="18" charset="0"/>
                <a:cs typeface="Times New Roman" panose="02020603050405020304" pitchFamily="18" charset="0"/>
              </a:rPr>
              <a:t>₹150–₹500 price range</a:t>
            </a:r>
            <a:r>
              <a:rPr lang="en-US" sz="2400" dirty="0">
                <a:latin typeface="Times New Roman" panose="02020603050405020304" pitchFamily="18" charset="0"/>
                <a:cs typeface="Times New Roman" panose="02020603050405020304" pitchFamily="18" charset="0"/>
              </a:rPr>
              <a:t> with ratings between </a:t>
            </a:r>
            <a:r>
              <a:rPr lang="en-US" sz="2400" b="1" dirty="0">
                <a:latin typeface="Times New Roman" panose="02020603050405020304" pitchFamily="18" charset="0"/>
                <a:cs typeface="Times New Roman" panose="02020603050405020304" pitchFamily="18" charset="0"/>
              </a:rPr>
              <a:t>3.5 and 4.5</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3.What </a:t>
            </a:r>
            <a:r>
              <a:rPr lang="en-US" sz="2400" b="1" dirty="0">
                <a:latin typeface="Times New Roman" panose="02020603050405020304" pitchFamily="18" charset="0"/>
                <a:cs typeface="Times New Roman" panose="02020603050405020304" pitchFamily="18" charset="0"/>
              </a:rPr>
              <a:t>conclusion can be drawn from this graph?</a:t>
            </a:r>
          </a:p>
          <a:p>
            <a:r>
              <a:rPr lang="en-US" sz="2400" dirty="0" smtClean="0">
                <a:latin typeface="Times New Roman" panose="02020603050405020304" pitchFamily="18" charset="0"/>
                <a:cs typeface="Times New Roman" panose="02020603050405020304" pitchFamily="18" charset="0"/>
              </a:rPr>
              <a:t>Price </a:t>
            </a:r>
            <a:r>
              <a:rPr lang="en-US" sz="2400" dirty="0">
                <a:latin typeface="Times New Roman" panose="02020603050405020304" pitchFamily="18" charset="0"/>
                <a:cs typeface="Times New Roman" panose="02020603050405020304" pitchFamily="18" charset="0"/>
              </a:rPr>
              <a:t>and ratings have a </a:t>
            </a:r>
            <a:r>
              <a:rPr lang="en-US" sz="2400" b="1" dirty="0">
                <a:latin typeface="Times New Roman" panose="02020603050405020304" pitchFamily="18" charset="0"/>
                <a:cs typeface="Times New Roman" panose="02020603050405020304" pitchFamily="18" charset="0"/>
              </a:rPr>
              <a:t>weak correlation</a:t>
            </a:r>
            <a:r>
              <a:rPr lang="en-US" sz="2400" dirty="0">
                <a:latin typeface="Times New Roman" panose="02020603050405020304" pitchFamily="18" charset="0"/>
                <a:cs typeface="Times New Roman" panose="02020603050405020304" pitchFamily="18" charset="0"/>
              </a:rPr>
              <a:t>, and customer satisfaction is influenced more by product quality than by price alone.</a:t>
            </a:r>
          </a:p>
          <a:p>
            <a:endParaRPr lang="en-US" sz="2400" dirty="0">
              <a:latin typeface="Times New Roman" panose="02020603050405020304" pitchFamily="18"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10560419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30666" y="1166921"/>
            <a:ext cx="4176597" cy="1737643"/>
          </a:xfrm>
          <a:prstGeom prst="rect">
            <a:avLst/>
          </a:prstGeom>
        </p:spPr>
      </p:pic>
      <p:sp>
        <p:nvSpPr>
          <p:cNvPr id="8" name="Rectangle 7"/>
          <p:cNvSpPr/>
          <p:nvPr/>
        </p:nvSpPr>
        <p:spPr>
          <a:xfrm>
            <a:off x="293498" y="3010793"/>
            <a:ext cx="9925878" cy="3847207"/>
          </a:xfrm>
          <a:prstGeom prst="rect">
            <a:avLst/>
          </a:prstGeom>
        </p:spPr>
        <p:txBody>
          <a:bodyPr wrap="square">
            <a:spAutoFit/>
          </a:bodyPr>
          <a:lstStyle/>
          <a:p>
            <a:r>
              <a:rPr lang="en-US" sz="2400" b="1" dirty="0" smtClean="0">
                <a:latin typeface="Times New Roman" panose="02020603050405020304" pitchFamily="18" charset="0"/>
                <a:cs typeface="Times New Roman" panose="02020603050405020304" pitchFamily="18" charset="0"/>
              </a:rPr>
              <a:t>1.Which </a:t>
            </a:r>
            <a:r>
              <a:rPr lang="en-US" sz="2400" b="1" dirty="0">
                <a:latin typeface="Times New Roman" panose="02020603050405020304" pitchFamily="18" charset="0"/>
                <a:cs typeface="Times New Roman" panose="02020603050405020304" pitchFamily="18" charset="0"/>
              </a:rPr>
              <a:t>two variables have the strongest positive correlation?</a:t>
            </a:r>
          </a:p>
          <a:p>
            <a:r>
              <a:rPr lang="en-US" sz="2400" b="1" dirty="0" smtClean="0">
                <a:latin typeface="Times New Roman" panose="02020603050405020304" pitchFamily="18" charset="0"/>
                <a:cs typeface="Times New Roman" panose="02020603050405020304" pitchFamily="18" charset="0"/>
              </a:rPr>
              <a:t>Original Price </a:t>
            </a:r>
            <a:r>
              <a:rPr lang="en-US" sz="2400" b="1" dirty="0">
                <a:latin typeface="Times New Roman" panose="02020603050405020304" pitchFamily="18" charset="0"/>
                <a:cs typeface="Times New Roman" panose="02020603050405020304" pitchFamily="18" charset="0"/>
              </a:rPr>
              <a:t>and </a:t>
            </a:r>
            <a:r>
              <a:rPr lang="en-US" sz="2400" b="1" dirty="0" smtClean="0">
                <a:latin typeface="Times New Roman" panose="02020603050405020304" pitchFamily="18" charset="0"/>
                <a:cs typeface="Times New Roman" panose="02020603050405020304" pitchFamily="18" charset="0"/>
              </a:rPr>
              <a:t>Discount Amount</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show the strongest positive correlation (</a:t>
            </a:r>
            <a:r>
              <a:rPr lang="en-US" sz="2400" b="1" dirty="0">
                <a:latin typeface="Times New Roman" panose="02020603050405020304" pitchFamily="18" charset="0"/>
                <a:cs typeface="Times New Roman" panose="02020603050405020304" pitchFamily="18" charset="0"/>
              </a:rPr>
              <a:t>0.97</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2.What </a:t>
            </a:r>
            <a:r>
              <a:rPr lang="en-US" sz="2400" b="1" dirty="0">
                <a:latin typeface="Times New Roman" panose="02020603050405020304" pitchFamily="18" charset="0"/>
                <a:cs typeface="Times New Roman" panose="02020603050405020304" pitchFamily="18" charset="0"/>
              </a:rPr>
              <a:t>is the correlation between Price and </a:t>
            </a:r>
            <a:r>
              <a:rPr lang="en-US" sz="2400" b="1" dirty="0" smtClean="0">
                <a:latin typeface="Times New Roman" panose="02020603050405020304" pitchFamily="18" charset="0"/>
                <a:cs typeface="Times New Roman" panose="02020603050405020304" pitchFamily="18" charset="0"/>
              </a:rPr>
              <a:t>Original Price</a:t>
            </a:r>
            <a:r>
              <a:rPr lang="en-US" sz="2400" b="1" dirty="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Price </a:t>
            </a:r>
            <a:r>
              <a:rPr lang="en-US" sz="2400" dirty="0">
                <a:latin typeface="Times New Roman" panose="02020603050405020304" pitchFamily="18" charset="0"/>
                <a:cs typeface="Times New Roman" panose="02020603050405020304" pitchFamily="18" charset="0"/>
              </a:rPr>
              <a:t>and </a:t>
            </a:r>
            <a:r>
              <a:rPr lang="en-US" sz="2400" dirty="0" smtClean="0">
                <a:latin typeface="Times New Roman" panose="02020603050405020304" pitchFamily="18" charset="0"/>
                <a:cs typeface="Times New Roman" panose="02020603050405020304" pitchFamily="18" charset="0"/>
              </a:rPr>
              <a:t>Original Price </a:t>
            </a:r>
            <a:r>
              <a:rPr lang="en-US" sz="2400" dirty="0">
                <a:latin typeface="Times New Roman" panose="02020603050405020304" pitchFamily="18" charset="0"/>
                <a:cs typeface="Times New Roman" panose="02020603050405020304" pitchFamily="18" charset="0"/>
              </a:rPr>
              <a:t>have a </a:t>
            </a:r>
            <a:r>
              <a:rPr lang="en-US" sz="2400" b="1" dirty="0">
                <a:latin typeface="Times New Roman" panose="02020603050405020304" pitchFamily="18" charset="0"/>
                <a:cs typeface="Times New Roman" panose="02020603050405020304" pitchFamily="18" charset="0"/>
              </a:rPr>
              <a:t>moderate positive correlation (0.55</a:t>
            </a:r>
            <a:r>
              <a:rPr lang="en-US" sz="2400" b="1" dirty="0" smtClean="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a:t>
            </a:r>
          </a:p>
          <a:p>
            <a:r>
              <a:rPr lang="en-US" sz="2400" b="1" dirty="0" smtClean="0">
                <a:latin typeface="Times New Roman" panose="02020603050405020304" pitchFamily="18" charset="0"/>
                <a:cs typeface="Times New Roman" panose="02020603050405020304" pitchFamily="18" charset="0"/>
              </a:rPr>
              <a:t>3.What </a:t>
            </a:r>
            <a:r>
              <a:rPr lang="en-US" sz="2400" b="1" dirty="0">
                <a:latin typeface="Times New Roman" panose="02020603050405020304" pitchFamily="18" charset="0"/>
                <a:cs typeface="Times New Roman" panose="02020603050405020304" pitchFamily="18" charset="0"/>
              </a:rPr>
              <a:t>is the relationship between Price and </a:t>
            </a:r>
            <a:r>
              <a:rPr lang="en-US" sz="2400" b="1" dirty="0" smtClean="0">
                <a:latin typeface="Times New Roman" panose="02020603050405020304" pitchFamily="18" charset="0"/>
                <a:cs typeface="Times New Roman" panose="02020603050405020304" pitchFamily="18" charset="0"/>
              </a:rPr>
              <a:t>Discount Percentage</a:t>
            </a:r>
            <a:r>
              <a:rPr lang="en-US" sz="2400" b="1" dirty="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Price </a:t>
            </a:r>
            <a:r>
              <a:rPr lang="en-US" sz="2400" dirty="0">
                <a:latin typeface="Times New Roman" panose="02020603050405020304" pitchFamily="18" charset="0"/>
                <a:cs typeface="Times New Roman" panose="02020603050405020304" pitchFamily="18" charset="0"/>
              </a:rPr>
              <a:t>and </a:t>
            </a:r>
            <a:r>
              <a:rPr lang="en-US" sz="2400" dirty="0" smtClean="0">
                <a:latin typeface="Times New Roman" panose="02020603050405020304" pitchFamily="18" charset="0"/>
                <a:cs typeface="Times New Roman" panose="02020603050405020304" pitchFamily="18" charset="0"/>
              </a:rPr>
              <a:t>Discount Percentage </a:t>
            </a:r>
            <a:r>
              <a:rPr lang="en-US" sz="2400" dirty="0">
                <a:latin typeface="Times New Roman" panose="02020603050405020304" pitchFamily="18" charset="0"/>
                <a:cs typeface="Times New Roman" panose="02020603050405020304" pitchFamily="18" charset="0"/>
              </a:rPr>
              <a:t>have a </a:t>
            </a:r>
            <a:r>
              <a:rPr lang="en-US" sz="2400" b="1" dirty="0">
                <a:latin typeface="Times New Roman" panose="02020603050405020304" pitchFamily="18" charset="0"/>
                <a:cs typeface="Times New Roman" panose="02020603050405020304" pitchFamily="18" charset="0"/>
              </a:rPr>
              <a:t>negative correlation (-0.30)</a:t>
            </a:r>
            <a:r>
              <a:rPr lang="en-US" sz="2400" dirty="0">
                <a:latin typeface="Times New Roman" panose="02020603050405020304" pitchFamily="18" charset="0"/>
                <a:cs typeface="Times New Roman" panose="02020603050405020304" pitchFamily="18" charset="0"/>
              </a:rPr>
              <a:t>, meaning higher-priced products tend to have slightly lower discount percentages.</a:t>
            </a:r>
          </a:p>
          <a:p>
            <a:endParaRPr lang="en-US" sz="2400" dirty="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0" y="168578"/>
            <a:ext cx="5145206" cy="523220"/>
          </a:xfrm>
          <a:prstGeom prst="rect">
            <a:avLst/>
          </a:prstGeom>
          <a:noFill/>
        </p:spPr>
        <p:txBody>
          <a:bodyPr wrap="square" rtlCol="0">
            <a:spAutoFit/>
          </a:bodyPr>
          <a:lstStyle/>
          <a:p>
            <a:r>
              <a:rPr lang="en-US" sz="2800" b="1" dirty="0" smtClean="0">
                <a:solidFill>
                  <a:schemeClr val="tx1"/>
                </a:solidFill>
                <a:latin typeface="Times New Roman" panose="02020603050405020304" pitchFamily="18" charset="0"/>
                <a:cs typeface="Times New Roman" panose="02020603050405020304" pitchFamily="18" charset="0"/>
              </a:rPr>
              <a:t>Multi variate analysis</a:t>
            </a:r>
            <a:endParaRPr lang="en-IN"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5123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427656" y="416554"/>
            <a:ext cx="6099463" cy="58473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4000" b="1" dirty="0" smtClean="0">
                <a:solidFill>
                  <a:srgbClr val="FF0000"/>
                </a:solidFill>
                <a:latin typeface="Times New Roman" panose="02020603050405020304" pitchFamily="18" charset="0"/>
                <a:ea typeface="Calibri"/>
                <a:cs typeface="Times New Roman" panose="02020603050405020304" pitchFamily="18" charset="0"/>
                <a:sym typeface="Lato Black"/>
              </a:rPr>
              <a:t>Hypothesis Testing</a:t>
            </a:r>
            <a:endParaRPr sz="40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447" y="1001289"/>
            <a:ext cx="7444135" cy="2169622"/>
          </a:xfrm>
          <a:prstGeom prst="rect">
            <a:avLst/>
          </a:prstGeom>
        </p:spPr>
      </p:pic>
      <p:sp>
        <p:nvSpPr>
          <p:cNvPr id="3" name="Rectangle 1"/>
          <p:cNvSpPr>
            <a:spLocks noChangeArrowheads="1"/>
          </p:cNvSpPr>
          <p:nvPr/>
        </p:nvSpPr>
        <p:spPr bwMode="auto">
          <a:xfrm>
            <a:off x="427656" y="-5507479"/>
            <a:ext cx="10344499" cy="10802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statistical test shows that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product price varies significantly across brands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indicates that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brand value plays an important role in pricing strategy</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Certain brands are able to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command higher prices</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while others compete in lower price ranges.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Customers are willing to pay different prices based on </a:t>
            </a:r>
            <a:r>
              <a:rPr kumimoji="0" lang="en-US" alt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brand perception and trust</a:t>
            </a:r>
            <a:r>
              <a:rPr kumimoji="0" lang="en-US" alt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2798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427656" y="416554"/>
            <a:ext cx="11141492" cy="6678711"/>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4000" b="1" dirty="0" smtClean="0">
                <a:solidFill>
                  <a:srgbClr val="FF0000"/>
                </a:solidFill>
                <a:latin typeface="Times New Roman" panose="02020603050405020304" pitchFamily="18" charset="0"/>
                <a:ea typeface="Calibri"/>
                <a:cs typeface="Times New Roman" panose="02020603050405020304" pitchFamily="18" charset="0"/>
                <a:sym typeface="Lato Black"/>
              </a:rPr>
              <a:t>Recommendations</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Focus more on </a:t>
            </a:r>
            <a:r>
              <a:rPr lang="en-US" sz="2400" b="1" dirty="0">
                <a:latin typeface="Times New Roman" panose="02020603050405020304" pitchFamily="18" charset="0"/>
                <a:cs typeface="Times New Roman" panose="02020603050405020304" pitchFamily="18" charset="0"/>
              </a:rPr>
              <a:t>mid-range priced products</a:t>
            </a:r>
            <a:r>
              <a:rPr lang="en-US" sz="2400" dirty="0">
                <a:latin typeface="Times New Roman" panose="02020603050405020304" pitchFamily="18" charset="0"/>
                <a:cs typeface="Times New Roman" panose="02020603050405020304" pitchFamily="18" charset="0"/>
              </a:rPr>
              <a:t>, as they form the largest customer segment</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Develop </a:t>
            </a:r>
            <a:r>
              <a:rPr lang="en-US" sz="2400" b="1" dirty="0">
                <a:latin typeface="Times New Roman" panose="02020603050405020304" pitchFamily="18" charset="0"/>
                <a:cs typeface="Times New Roman" panose="02020603050405020304" pitchFamily="18" charset="0"/>
              </a:rPr>
              <a:t>brand-specific pricing strategies</a:t>
            </a:r>
            <a:r>
              <a:rPr lang="en-US" sz="2400" dirty="0">
                <a:latin typeface="Times New Roman" panose="02020603050405020304" pitchFamily="18" charset="0"/>
                <a:cs typeface="Times New Roman" panose="02020603050405020304" pitchFamily="18" charset="0"/>
              </a:rPr>
              <a:t>, since brand significantly impacts product price</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Increase promotions for </a:t>
            </a:r>
            <a:r>
              <a:rPr lang="en-US" sz="2400" b="1" dirty="0">
                <a:latin typeface="Times New Roman" panose="02020603050405020304" pitchFamily="18" charset="0"/>
                <a:cs typeface="Times New Roman" panose="02020603050405020304" pitchFamily="18" charset="0"/>
              </a:rPr>
              <a:t>low-performing brands</a:t>
            </a:r>
            <a:r>
              <a:rPr lang="en-US" sz="2400" dirty="0">
                <a:latin typeface="Times New Roman" panose="02020603050405020304" pitchFamily="18" charset="0"/>
                <a:cs typeface="Times New Roman" panose="02020603050405020304" pitchFamily="18" charset="0"/>
              </a:rPr>
              <a:t> to improve visibility and sales</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Optimize discount levels based on </a:t>
            </a:r>
            <a:r>
              <a:rPr lang="en-US" sz="2400" b="1" dirty="0">
                <a:latin typeface="Times New Roman" panose="02020603050405020304" pitchFamily="18" charset="0"/>
                <a:cs typeface="Times New Roman" panose="02020603050405020304" pitchFamily="18" charset="0"/>
              </a:rPr>
              <a:t>product type</a:t>
            </a:r>
            <a:r>
              <a:rPr lang="en-US" sz="2400" dirty="0">
                <a:latin typeface="Times New Roman" panose="02020603050405020304" pitchFamily="18" charset="0"/>
                <a:cs typeface="Times New Roman" panose="02020603050405020304" pitchFamily="18" charset="0"/>
              </a:rPr>
              <a:t>, as discount patterns vary across categories</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Maintain </a:t>
            </a:r>
            <a:r>
              <a:rPr lang="en-US" sz="2400" b="1" dirty="0">
                <a:latin typeface="Times New Roman" panose="02020603050405020304" pitchFamily="18" charset="0"/>
                <a:cs typeface="Times New Roman" panose="02020603050405020304" pitchFamily="18" charset="0"/>
              </a:rPr>
              <a:t>product quality</a:t>
            </a:r>
            <a:r>
              <a:rPr lang="en-US" sz="2400" dirty="0">
                <a:latin typeface="Times New Roman" panose="02020603050405020304" pitchFamily="18" charset="0"/>
                <a:cs typeface="Times New Roman" panose="02020603050405020304" pitchFamily="18" charset="0"/>
              </a:rPr>
              <a:t> across all price segments, since ratings are not strongly related to price.</a:t>
            </a:r>
            <a:endParaRPr lang="en-US" sz="2400" b="1" dirty="0" smtClean="0">
              <a:solidFill>
                <a:srgbClr val="FF0000"/>
              </a:solidFill>
              <a:latin typeface="Times New Roman" panose="02020603050405020304" pitchFamily="18" charset="0"/>
              <a:ea typeface="Calibri"/>
              <a:cs typeface="Times New Roman" panose="02020603050405020304" pitchFamily="18" charset="0"/>
              <a:sym typeface="Lato Black"/>
            </a:endParaRPr>
          </a:p>
          <a:p>
            <a:pPr marL="0" marR="0" lvl="0" indent="0" algn="l" rtl="0">
              <a:lnSpc>
                <a:spcPct val="150000"/>
              </a:lnSpc>
              <a:spcBef>
                <a:spcPts val="0"/>
              </a:spcBef>
              <a:spcAft>
                <a:spcPts val="0"/>
              </a:spcAft>
              <a:buClr>
                <a:srgbClr val="FF0000"/>
              </a:buClr>
              <a:buSzPts val="3200"/>
              <a:buFont typeface="Lato Black"/>
              <a:buNone/>
            </a:pPr>
            <a:endParaRPr lang="en-US" sz="2400" b="1" dirty="0" smtClean="0">
              <a:solidFill>
                <a:srgbClr val="FF0000"/>
              </a:solidFill>
              <a:latin typeface="Times New Roman" panose="02020603050405020304" pitchFamily="18" charset="0"/>
              <a:ea typeface="Calibri"/>
              <a:cs typeface="Times New Roman" panose="02020603050405020304" pitchFamily="18" charset="0"/>
              <a:sym typeface="Lato Black"/>
            </a:endParaRPr>
          </a:p>
          <a:p>
            <a:pPr marL="0" marR="0" lvl="0" indent="0" algn="l" rtl="0">
              <a:lnSpc>
                <a:spcPct val="150000"/>
              </a:lnSpc>
              <a:spcBef>
                <a:spcPts val="0"/>
              </a:spcBef>
              <a:spcAft>
                <a:spcPts val="0"/>
              </a:spcAft>
              <a:buClr>
                <a:srgbClr val="FF0000"/>
              </a:buClr>
              <a:buSzPts val="3200"/>
              <a:buFont typeface="Lato Black"/>
              <a:buNone/>
            </a:pPr>
            <a:endParaRPr sz="24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123014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2" name="TextBox 1"/>
          <p:cNvSpPr txBox="1"/>
          <p:nvPr/>
        </p:nvSpPr>
        <p:spPr>
          <a:xfrm>
            <a:off x="198782" y="304800"/>
            <a:ext cx="8070574" cy="707886"/>
          </a:xfrm>
          <a:prstGeom prst="rect">
            <a:avLst/>
          </a:prstGeom>
          <a:noFill/>
        </p:spPr>
        <p:txBody>
          <a:bodyPr wrap="square" rtlCol="0">
            <a:spAutoFit/>
          </a:bodyPr>
          <a:lstStyle/>
          <a:p>
            <a:r>
              <a:rPr lang="en-US" sz="4000" b="1" dirty="0" smtClean="0">
                <a:solidFill>
                  <a:srgbClr val="FF0000"/>
                </a:solidFill>
              </a:rPr>
              <a:t>Challenges</a:t>
            </a:r>
            <a:endParaRPr lang="en-IN" sz="4000" b="1" dirty="0">
              <a:solidFill>
                <a:srgbClr val="FF0000"/>
              </a:solidFill>
            </a:endParaRPr>
          </a:p>
        </p:txBody>
      </p:sp>
      <p:sp>
        <p:nvSpPr>
          <p:cNvPr id="3" name="Rectangle 2"/>
          <p:cNvSpPr/>
          <p:nvPr/>
        </p:nvSpPr>
        <p:spPr>
          <a:xfrm rot="10800000" flipV="1">
            <a:off x="384311" y="1355905"/>
            <a:ext cx="11516140" cy="3349956"/>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Data contained </a:t>
            </a:r>
            <a:r>
              <a:rPr lang="en-US" sz="2400" b="1" dirty="0">
                <a:latin typeface="Times New Roman" panose="02020603050405020304" pitchFamily="18" charset="0"/>
                <a:cs typeface="Times New Roman" panose="02020603050405020304" pitchFamily="18" charset="0"/>
              </a:rPr>
              <a:t>missing and inconsistent values</a:t>
            </a:r>
            <a:r>
              <a:rPr lang="en-US" sz="2400" dirty="0">
                <a:latin typeface="Times New Roman" panose="02020603050405020304" pitchFamily="18" charset="0"/>
                <a:cs typeface="Times New Roman" panose="02020603050405020304" pitchFamily="18" charset="0"/>
              </a:rPr>
              <a:t> (e.g., multiple labels for the same product type</a:t>
            </a:r>
            <a:r>
              <a:rPr lang="en-US" sz="2400" dirty="0" smtClean="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Web-scraped data may change frequently due to </a:t>
            </a:r>
            <a:r>
              <a:rPr lang="en-US" sz="2400" b="1" dirty="0">
                <a:latin typeface="Times New Roman" panose="02020603050405020304" pitchFamily="18" charset="0"/>
                <a:cs typeface="Times New Roman" panose="02020603050405020304" pitchFamily="18" charset="0"/>
              </a:rPr>
              <a:t>dynamic website content</a:t>
            </a:r>
            <a:r>
              <a:rPr lang="en-US" sz="2400" dirty="0" smtClean="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products had </a:t>
            </a:r>
            <a:r>
              <a:rPr lang="en-US" sz="2400" b="1" dirty="0">
                <a:latin typeface="Times New Roman" panose="02020603050405020304" pitchFamily="18" charset="0"/>
                <a:cs typeface="Times New Roman" panose="02020603050405020304" pitchFamily="18" charset="0"/>
              </a:rPr>
              <a:t>no ratings</a:t>
            </a:r>
            <a:r>
              <a:rPr lang="en-US" sz="2400" dirty="0">
                <a:latin typeface="Times New Roman" panose="02020603050405020304" pitchFamily="18" charset="0"/>
                <a:cs typeface="Times New Roman" panose="02020603050405020304" pitchFamily="18" charset="0"/>
              </a:rPr>
              <a:t>, limiting customer satisfaction analysis</a:t>
            </a:r>
            <a:r>
              <a:rPr lang="en-US" sz="2400" dirty="0" smtClean="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Brand and product type distributions were </a:t>
            </a:r>
            <a:r>
              <a:rPr lang="en-US" sz="2400" b="1" dirty="0">
                <a:latin typeface="Times New Roman" panose="02020603050405020304" pitchFamily="18" charset="0"/>
                <a:cs typeface="Times New Roman" panose="02020603050405020304" pitchFamily="18" charset="0"/>
              </a:rPr>
              <a:t>highly imbalanced</a:t>
            </a:r>
            <a:r>
              <a:rPr lang="en-US" sz="2400" dirty="0">
                <a:latin typeface="Times New Roman" panose="02020603050405020304" pitchFamily="18" charset="0"/>
                <a:cs typeface="Times New Roman" panose="02020603050405020304" pitchFamily="18" charset="0"/>
              </a:rPr>
              <a:t>, affecting comparisons</a:t>
            </a:r>
            <a:r>
              <a:rPr lang="en-US" sz="2400" dirty="0" smtClean="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Discount and price values were in </a:t>
            </a:r>
            <a:r>
              <a:rPr lang="en-US" sz="2400" b="1" dirty="0">
                <a:latin typeface="Times New Roman" panose="02020603050405020304" pitchFamily="18" charset="0"/>
                <a:cs typeface="Times New Roman" panose="02020603050405020304" pitchFamily="18" charset="0"/>
              </a:rPr>
              <a:t>string format</a:t>
            </a:r>
            <a:r>
              <a:rPr lang="en-US" sz="2400" dirty="0">
                <a:latin typeface="Times New Roman" panose="02020603050405020304" pitchFamily="18" charset="0"/>
                <a:cs typeface="Times New Roman" panose="02020603050405020304" pitchFamily="18" charset="0"/>
              </a:rPr>
              <a:t>, requiring extensive preprocessing</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81043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5AC397C-F227-F1E2-6739-E2A264F42E9C}"/>
            </a:ext>
          </a:extLst>
        </p:cNvPr>
        <p:cNvGrpSpPr/>
        <p:nvPr/>
      </p:nvGrpSpPr>
      <p:grpSpPr>
        <a:xfrm>
          <a:off x="0" y="0"/>
          <a:ext cx="0" cy="0"/>
          <a:chOff x="0" y="0"/>
          <a:chExt cx="0" cy="0"/>
        </a:xfrm>
      </p:grpSpPr>
      <p:sp>
        <p:nvSpPr>
          <p:cNvPr id="105" name="Google Shape;105;p3">
            <a:extLst>
              <a:ext uri="{FF2B5EF4-FFF2-40B4-BE49-F238E27FC236}">
                <a16:creationId xmlns:a16="http://schemas.microsoft.com/office/drawing/2014/main" id="{7EE21F9A-39AC-46DB-EF6B-FAD0B91F9168}"/>
              </a:ext>
            </a:extLst>
          </p:cNvPr>
          <p:cNvSpPr txBox="1"/>
          <p:nvPr/>
        </p:nvSpPr>
        <p:spPr>
          <a:xfrm>
            <a:off x="321638" y="376798"/>
            <a:ext cx="11565562" cy="3908722"/>
          </a:xfrm>
          <a:prstGeom prst="rect">
            <a:avLst/>
          </a:prstGeom>
          <a:noFill/>
          <a:ln>
            <a:noFill/>
          </a:ln>
        </p:spPr>
        <p:txBody>
          <a:bodyPr spcFirstLastPara="1" wrap="square" lIns="91425" tIns="45700" rIns="91425" bIns="45700" anchor="t" anchorCtr="0">
            <a:spAutoFit/>
          </a:bodyPr>
          <a:lstStyle/>
          <a:p>
            <a:pPr lvl="0">
              <a:lnSpc>
                <a:spcPct val="80000"/>
              </a:lnSpc>
              <a:buClr>
                <a:srgbClr val="FF0000"/>
              </a:buClr>
              <a:buSzPts val="3200"/>
            </a:pPr>
            <a:r>
              <a:rPr lang="en-IN" sz="4000" b="1" dirty="0" smtClean="0">
                <a:solidFill>
                  <a:srgbClr val="FF0000"/>
                </a:solidFill>
                <a:latin typeface="Times New Roman" panose="02020603050405020304" pitchFamily="18" charset="0"/>
                <a:cs typeface="Times New Roman" panose="02020603050405020304" pitchFamily="18" charset="0"/>
              </a:rPr>
              <a:t>Conclusion</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Flipkart clothes dataset was successfully collected using </a:t>
            </a:r>
            <a:r>
              <a:rPr lang="en-US" sz="2400" b="1" dirty="0">
                <a:latin typeface="Times New Roman" panose="02020603050405020304" pitchFamily="18" charset="0"/>
                <a:cs typeface="Times New Roman" panose="02020603050405020304" pitchFamily="18" charset="0"/>
              </a:rPr>
              <a:t>web scraping techniques</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Exploratory Data Analysis revealed that </a:t>
            </a:r>
            <a:r>
              <a:rPr lang="en-US" sz="2400" b="1" dirty="0">
                <a:latin typeface="Times New Roman" panose="02020603050405020304" pitchFamily="18" charset="0"/>
                <a:cs typeface="Times New Roman" panose="02020603050405020304" pitchFamily="18" charset="0"/>
              </a:rPr>
              <a:t>mid-range products dominate the market</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Hypothesis testing confirmed that </a:t>
            </a:r>
            <a:r>
              <a:rPr lang="en-US" sz="2400" b="1" dirty="0">
                <a:latin typeface="Times New Roman" panose="02020603050405020304" pitchFamily="18" charset="0"/>
                <a:cs typeface="Times New Roman" panose="02020603050405020304" pitchFamily="18" charset="0"/>
              </a:rPr>
              <a:t>brand significantly affects price</a:t>
            </a:r>
            <a:r>
              <a:rPr lang="en-US" sz="2400" dirty="0">
                <a:latin typeface="Times New Roman" panose="02020603050405020304" pitchFamily="18" charset="0"/>
                <a:cs typeface="Times New Roman" panose="02020603050405020304" pitchFamily="18" charset="0"/>
              </a:rPr>
              <a:t>, while ratings are weakly related to price</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Discount strategies vary by product type and influence selling prices</a:t>
            </a:r>
            <a:r>
              <a:rPr lang="en-US" sz="2400" dirty="0" smtClean="0">
                <a:latin typeface="Times New Roman" panose="02020603050405020304" pitchFamily="18" charset="0"/>
                <a:cs typeface="Times New Roman" panose="02020603050405020304" pitchFamily="18" charset="0"/>
              </a:rPr>
              <a:t>.</a:t>
            </a:r>
          </a:p>
          <a:p>
            <a:pPr marL="342900" lvl="0" indent="-342900">
              <a:lnSpc>
                <a:spcPct val="150000"/>
              </a:lnSpc>
              <a:buClrTx/>
              <a:buSzPts val="3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Overall, customer satisfaction depends more on </a:t>
            </a:r>
            <a:r>
              <a:rPr lang="en-US" sz="2400" b="1" dirty="0">
                <a:latin typeface="Times New Roman" panose="02020603050405020304" pitchFamily="18" charset="0"/>
                <a:cs typeface="Times New Roman" panose="02020603050405020304" pitchFamily="18" charset="0"/>
              </a:rPr>
              <a:t>product quality</a:t>
            </a:r>
            <a:r>
              <a:rPr lang="en-US" sz="2400" dirty="0">
                <a:latin typeface="Times New Roman" panose="02020603050405020304" pitchFamily="18" charset="0"/>
                <a:cs typeface="Times New Roman" panose="02020603050405020304" pitchFamily="18" charset="0"/>
              </a:rPr>
              <a:t> than on price</a:t>
            </a:r>
            <a:r>
              <a:rPr lang="en-US" sz="2400" dirty="0"/>
              <a:t>.</a:t>
            </a:r>
            <a:endParaRPr sz="24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83207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1058</TotalTime>
  <Words>815</Words>
  <Application>Microsoft Office PowerPoint</Application>
  <PresentationFormat>Widescreen</PresentationFormat>
  <Paragraphs>154</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Libre Baskerville</vt:lpstr>
      <vt:lpstr>Times New Roman</vt:lpstr>
      <vt:lpstr>Arial</vt:lpstr>
      <vt:lpstr>Calibri</vt:lpstr>
      <vt:lpstr>Wingdings</vt:lpstr>
      <vt:lpstr>Lato Black</vt:lpstr>
      <vt:lpstr>Office Theme</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VARSHA</cp:lastModifiedBy>
  <cp:revision>47</cp:revision>
  <dcterms:created xsi:type="dcterms:W3CDTF">2021-02-16T05:19:01Z</dcterms:created>
  <dcterms:modified xsi:type="dcterms:W3CDTF">2026-01-31T05:49:23Z</dcterms:modified>
</cp:coreProperties>
</file>